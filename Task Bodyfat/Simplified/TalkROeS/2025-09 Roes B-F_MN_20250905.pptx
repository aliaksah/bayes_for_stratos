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notesSlides/notesSlide2.xml" ContentType="application/vnd.openxmlformats-officedocument.presentationml.notesSlide+xml"/>
  <Override PartName="/ppt/comments/comment6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16" r:id="rId2"/>
    <p:sldId id="319" r:id="rId3"/>
    <p:sldId id="323" r:id="rId4"/>
    <p:sldId id="322" r:id="rId5"/>
    <p:sldId id="321" r:id="rId6"/>
    <p:sldId id="324" r:id="rId7"/>
    <p:sldId id="325" r:id="rId8"/>
    <p:sldId id="326" r:id="rId9"/>
    <p:sldId id="327" r:id="rId10"/>
    <p:sldId id="328" r:id="rId11"/>
    <p:sldId id="329" r:id="rId12"/>
    <p:sldId id="331" r:id="rId13"/>
    <p:sldId id="330" r:id="rId14"/>
    <p:sldId id="332" r:id="rId15"/>
    <p:sldId id="333" r:id="rId16"/>
    <p:sldId id="335" r:id="rId17"/>
    <p:sldId id="336" r:id="rId18"/>
    <p:sldId id="334" r:id="rId19"/>
    <p:sldId id="337" r:id="rId20"/>
    <p:sldId id="338" r:id="rId21"/>
    <p:sldId id="341" r:id="rId22"/>
    <p:sldId id="343" r:id="rId23"/>
    <p:sldId id="342" r:id="rId24"/>
    <p:sldId id="340" r:id="rId25"/>
  </p:sldIdLst>
  <p:sldSz cx="12192000" cy="6858000"/>
  <p:notesSz cx="6669088" cy="987266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tharina Dengg" initials="KD" lastIdx="1" clrIdx="0">
    <p:extLst/>
  </p:cmAuthor>
  <p:cmAuthor id="2" name="Mariana Nold" initials="MN" lastIdx="6" clrIdx="1">
    <p:extLst>
      <p:ext uri="{19B8F6BF-5375-455C-9EA6-DF929625EA0E}">
        <p15:presenceInfo xmlns:p15="http://schemas.microsoft.com/office/powerpoint/2012/main" userId="S-1-5-21-866499592-3592028529-3545064460-9587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347" autoAdjust="0"/>
  </p:normalViewPr>
  <p:slideViewPr>
    <p:cSldViewPr snapToGrid="0" showGuides="1">
      <p:cViewPr varScale="1">
        <p:scale>
          <a:sx n="64" d="100"/>
          <a:sy n="64" d="100"/>
        </p:scale>
        <p:origin x="712" y="68"/>
      </p:cViewPr>
      <p:guideLst>
        <p:guide orient="horz" pos="346"/>
        <p:guide pos="3840"/>
      </p:guideLst>
    </p:cSldViewPr>
  </p:slideViewPr>
  <p:outlineViewPr>
    <p:cViewPr>
      <p:scale>
        <a:sx n="33" d="100"/>
        <a:sy n="33" d="100"/>
      </p:scale>
      <p:origin x="0" y="-30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0:51.645" idx="1">
    <p:pos x="5091" y="1779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5:03.998" idx="2">
    <p:pos x="5274" y="2832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7:05.822" idx="3">
    <p:pos x="2256" y="240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9:25.833" idx="4">
    <p:pos x="1170" y="1398"/>
    <p:text>Ich glaube es ist (0,100) also die Ränder können nicht vorkommen, oder?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34:54.586" idx="5">
    <p:pos x="10" y="10"/>
    <p:text>Vielleicht könntest du die Formel die rauskommt angeben, als ein zentrales Ergebnis, dass man dann gut mit meinem Ergebnis vergleichen kann?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48:51.484" idx="6">
    <p:pos x="4146" y="870"/>
    <p:text>das haben wir beide nicht, wir haben die gleichen Prädiktoren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D0E05E-0E5F-4619-840B-04816CDCE1FF}" type="datetimeFigureOut">
              <a:rPr lang="de-AT" smtClean="0"/>
              <a:t>04.09.2025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16DE8-E1E4-4AF2-9B02-7E3CC699773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2421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4AB0C-E262-4C0E-AFB9-E3AC8707D9BE}" type="datetimeFigureOut">
              <a:rPr lang="de-DE" smtClean="0"/>
              <a:t>04.09.2025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73063" y="1233488"/>
            <a:ext cx="5922962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51219"/>
            <a:ext cx="533527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DFF36-2726-40AA-99D6-4D73C8508E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66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sz="1400" dirty="0">
                <a:solidFill>
                  <a:srgbClr val="FF0000"/>
                </a:solidFill>
              </a:rPr>
              <a:t>Hier in der Reinform – gibt es nicht </a:t>
            </a:r>
            <a:r>
              <a:rPr lang="de-AT" sz="1400" baseline="0" dirty="0">
                <a:solidFill>
                  <a:srgbClr val="FF0000"/>
                </a:solidFill>
              </a:rPr>
              <a:t> </a:t>
            </a:r>
            <a:r>
              <a:rPr lang="de-AT" sz="1400" dirty="0">
                <a:solidFill>
                  <a:srgbClr val="FF0000"/>
                </a:solidFill>
              </a:rPr>
              <a:t>wirklich in Praxis.</a:t>
            </a:r>
          </a:p>
          <a:p>
            <a:endParaRPr lang="de-AT" sz="1400" dirty="0">
              <a:solidFill>
                <a:srgbClr val="FF0000"/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/>
              <a:t>WRONG: High explanatory power </a:t>
            </a:r>
            <a:r>
              <a:rPr lang="en-US" sz="1400" dirty="0">
                <a:sym typeface="Wingdings" panose="05000000000000000000" pitchFamily="2" charset="2"/>
              </a:rPr>
              <a:t> high predictive power.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ym typeface="Wingdings" panose="05000000000000000000" pitchFamily="2" charset="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prognostic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predict</a:t>
            </a:r>
            <a:r>
              <a:rPr lang="de-AT" dirty="0"/>
              <a:t> 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outcomes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diseases</a:t>
            </a:r>
            <a:r>
              <a:rPr lang="de-AT" dirty="0"/>
              <a:t> </a:t>
            </a:r>
            <a:r>
              <a:rPr lang="de-AT" dirty="0" err="1"/>
              <a:t>and</a:t>
            </a:r>
            <a:r>
              <a:rPr lang="de-AT" dirty="0"/>
              <a:t>/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treatments</a:t>
            </a:r>
            <a:r>
              <a:rPr lang="de-AT" dirty="0"/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predictive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en-CA" dirty="0"/>
              <a:t>identification of patients at high risk for certain.</a:t>
            </a:r>
            <a:endParaRPr lang="de-A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/>
          </a:p>
          <a:p>
            <a:endParaRPr lang="en-CA" sz="1400" dirty="0">
              <a:solidFill>
                <a:srgbClr val="FF0000"/>
              </a:solidFill>
            </a:endParaRPr>
          </a:p>
          <a:p>
            <a:endParaRPr lang="en-US" sz="1400" b="1" i="1" noProof="0" dirty="0"/>
          </a:p>
          <a:p>
            <a:r>
              <a:rPr lang="en-US" sz="1400" b="1" i="1" noProof="0" dirty="0"/>
              <a:t>Types and purposes of statistical models I</a:t>
            </a:r>
          </a:p>
          <a:p>
            <a:endParaRPr lang="en-US" b="1" noProof="0" dirty="0"/>
          </a:p>
          <a:p>
            <a:r>
              <a:rPr lang="en-US" b="1" noProof="0" dirty="0"/>
              <a:t>Explanatory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Theory</a:t>
            </a:r>
            <a:r>
              <a:rPr lang="en-US" b="0" baseline="0" noProof="0" dirty="0"/>
              <a:t> itself provides the justification for the causality. Therefore, in social sciences often use of observational data for this purpose (association-based statistical models).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Strong theory, reliance on data and statistical modeling through the lens of the theoretical model.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Focus on theoretical constructs than on measurable variables. Use of causal diagrams illustrating relationship between these constructs.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Statistical inference: effects sizes and statistical significance in relation to the causal hypotheses.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 err="1"/>
              <a:t>Causality</a:t>
            </a:r>
            <a:r>
              <a:rPr lang="de-AT" sz="1200" dirty="0"/>
              <a:t> </a:t>
            </a:r>
            <a:r>
              <a:rPr lang="de-AT" sz="1200" dirty="0" err="1"/>
              <a:t>is</a:t>
            </a:r>
            <a:r>
              <a:rPr lang="de-AT" sz="1200" dirty="0"/>
              <a:t> </a:t>
            </a:r>
            <a:r>
              <a:rPr lang="de-AT" sz="1200" dirty="0" err="1"/>
              <a:t>of</a:t>
            </a:r>
            <a:r>
              <a:rPr lang="de-AT" sz="1200" dirty="0"/>
              <a:t> </a:t>
            </a:r>
            <a:r>
              <a:rPr lang="de-AT" sz="1200" dirty="0" err="1"/>
              <a:t>main</a:t>
            </a:r>
            <a:r>
              <a:rPr lang="de-AT" sz="1200" dirty="0"/>
              <a:t> </a:t>
            </a:r>
            <a:r>
              <a:rPr lang="de-AT" sz="1200" dirty="0" err="1"/>
              <a:t>concern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/>
              <a:t>Test </a:t>
            </a:r>
            <a:r>
              <a:rPr lang="de-AT" sz="1200" dirty="0" err="1"/>
              <a:t>hypotheses</a:t>
            </a:r>
            <a:r>
              <a:rPr lang="de-AT" sz="1200" dirty="0"/>
              <a:t> </a:t>
            </a:r>
            <a:r>
              <a:rPr lang="de-AT" sz="1200" dirty="0" err="1"/>
              <a:t>about</a:t>
            </a:r>
            <a:r>
              <a:rPr lang="de-AT" sz="1200" dirty="0"/>
              <a:t> </a:t>
            </a:r>
            <a:r>
              <a:rPr lang="de-AT" sz="1200" dirty="0" err="1"/>
              <a:t>effect</a:t>
            </a:r>
            <a:r>
              <a:rPr lang="de-AT" sz="1200" dirty="0"/>
              <a:t> </a:t>
            </a:r>
            <a:r>
              <a:rPr lang="de-AT" sz="1200" dirty="0" err="1"/>
              <a:t>sizes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1" noProof="0" dirty="0"/>
              <a:t>Explanatory models refer to the application of statistical models to data for testing causal hypotheses about theoretical</a:t>
            </a:r>
            <a:r>
              <a:rPr lang="en-US" b="0" i="1" baseline="0" noProof="0" dirty="0"/>
              <a:t> constructs.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in-sample explanatory power</a:t>
            </a:r>
            <a:endParaRPr lang="en-US" b="0" i="0" noProof="0" dirty="0"/>
          </a:p>
          <a:p>
            <a:endParaRPr lang="en-US" b="1" noProof="0" dirty="0"/>
          </a:p>
          <a:p>
            <a:r>
              <a:rPr lang="en-US" b="1" noProof="0" dirty="0"/>
              <a:t>Predictive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predict new/future observations; for a new observation predict the output Y given their input variable 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This includes point and interval prediction, prediction regions, predictive distributions or rankings of new observations.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direct interpretability is (strictly speaking) required (but often desirable).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association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(Can be used as a ‚reality check‘ to the relevance of theories, as a predictive model either predicts accurately or not. Explanatory models can never be confirmed and are harder to contradict.)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Out-of-sample predictive accuracy</a:t>
            </a:r>
            <a:endParaRPr lang="en-US" b="0" i="0" noProof="0" dirty="0"/>
          </a:p>
          <a:p>
            <a:r>
              <a:rPr lang="en-US" b="1" noProof="0" dirty="0"/>
              <a:t> </a:t>
            </a:r>
          </a:p>
          <a:p>
            <a:r>
              <a:rPr lang="en-US" b="1" noProof="0" dirty="0"/>
              <a:t>Descriptive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summarize the data structure parsimoniously.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or weak reliance of theory with a focus on the measurable level rather than at the construct level. No focus on prediction.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Goal: covariates with strong influence on the outcome, functional form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Etiological models in medicine ? (only some theory)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endParaRPr lang="en-US" b="0" baseline="0" noProof="0" dirty="0"/>
          </a:p>
          <a:p>
            <a:r>
              <a:rPr lang="en-US" b="0" baseline="0" noProof="0" dirty="0"/>
              <a:t>Important: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</a:rPr>
              <a:t>Models with high explanatory power do not have automatically high predictive power.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  <a:sym typeface="Wingdings" panose="05000000000000000000" pitchFamily="2" charset="2"/>
              </a:rPr>
              <a:t> Therefore, statistical modeling (from study design on) should be influenced on the type of statistical model required.</a:t>
            </a:r>
            <a:endParaRPr lang="en-US" b="0" baseline="0" noProof="0" dirty="0"/>
          </a:p>
          <a:p>
            <a:endParaRPr lang="en-US" b="1" noProof="0" dirty="0"/>
          </a:p>
          <a:p>
            <a:endParaRPr lang="en-US" b="1" noProof="0" dirty="0"/>
          </a:p>
          <a:p>
            <a:r>
              <a:rPr lang="en-US" b="1" noProof="0" dirty="0"/>
              <a:t>Why is there a difference between explaining and predicting?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Different type</a:t>
            </a:r>
            <a:r>
              <a:rPr lang="en-US" b="0" baseline="0" noProof="0" dirty="0"/>
              <a:t> of uncertainty.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Because measureable data are not accurate representations of their underlying constructs.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Theory: construct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causes construct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 via the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, </a:t>
            </a:r>
            <a:r>
              <a:rPr lang="en-US" b="0" i="1" baseline="0" noProof="0" dirty="0"/>
              <a:t>Y=F(X)</a:t>
            </a:r>
            <a:r>
              <a:rPr lang="en-US" b="0" baseline="0" noProof="0" dirty="0"/>
              <a:t>. Measureable variables are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(=</a:t>
            </a:r>
            <a:r>
              <a:rPr lang="en-US" b="0" baseline="0" noProof="0" dirty="0" err="1"/>
              <a:t>operationalisations</a:t>
            </a:r>
            <a:r>
              <a:rPr lang="en-US" b="0" baseline="0" noProof="0" dirty="0"/>
              <a:t> of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Statistical modeling: </a:t>
            </a:r>
            <a:r>
              <a:rPr lang="en-US" b="0" i="1" baseline="0" noProof="0" dirty="0"/>
              <a:t>E(Y)</a:t>
            </a:r>
            <a:r>
              <a:rPr lang="en-US" b="0" baseline="0" noProof="0" dirty="0"/>
              <a:t>=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(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), where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the statistical model. Usually not a single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  <a:br>
              <a:rPr lang="en-US" b="0" baseline="0" noProof="0" dirty="0"/>
            </a:br>
            <a:r>
              <a:rPr lang="en-US" b="0" baseline="0" noProof="0" dirty="0"/>
              <a:t>Explanatory models: match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as closely as possible for the statistical inference to apply to the theoretical hypotheses.</a:t>
            </a:r>
            <a:br>
              <a:rPr lang="en-US" b="0" baseline="0" noProof="0" dirty="0"/>
            </a:br>
            <a:r>
              <a:rPr lang="en-US" b="0" baseline="0" noProof="0" dirty="0"/>
              <a:t>Predictive models: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are of interest.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used as a tool for generating good predictions of new Y values.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Even is the underlying causal relationship is indeed </a:t>
            </a:r>
            <a:r>
              <a:rPr lang="en-US" b="0" i="1" noProof="0" dirty="0"/>
              <a:t>Y=F(X)</a:t>
            </a:r>
            <a:r>
              <a:rPr lang="en-US" b="0" noProof="0" dirty="0"/>
              <a:t>, a function other than </a:t>
            </a:r>
            <a:r>
              <a:rPr lang="en-US" b="0" i="1" noProof="0" dirty="0" err="1"/>
              <a:t>f</a:t>
            </a:r>
            <a:r>
              <a:rPr lang="en-US" b="0" noProof="0" dirty="0" err="1"/>
              <a:t>_hat</a:t>
            </a:r>
            <a:r>
              <a:rPr lang="en-US" b="0" noProof="0" dirty="0"/>
              <a:t>(</a:t>
            </a:r>
            <a:r>
              <a:rPr lang="en-US" b="1" noProof="0" dirty="0"/>
              <a:t>X</a:t>
            </a:r>
            <a:r>
              <a:rPr lang="en-US" b="0" noProof="0" dirty="0"/>
              <a:t>) and data other</a:t>
            </a:r>
            <a:r>
              <a:rPr lang="en-US" b="0" baseline="0" noProof="0" dirty="0"/>
              <a:t> than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might by preferable for prediction. </a:t>
            </a:r>
            <a:r>
              <a:rPr lang="en-US" b="0" baseline="0" noProof="0" dirty="0">
                <a:sym typeface="Wingdings" panose="05000000000000000000" pitchFamily="2" charset="2"/>
              </a:rPr>
              <a:t> The wrong model can sometimes predict better than the correct 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Bias-variance:</a:t>
            </a:r>
            <a:r>
              <a:rPr lang="en-US" b="0" baseline="0" noProof="0" dirty="0"/>
              <a:t> expected prediction error for a new observation using a quadratic loss function (Hastie, </a:t>
            </a:r>
            <a:r>
              <a:rPr lang="en-US" b="0" baseline="0" noProof="0" dirty="0" err="1"/>
              <a:t>Tibshirani</a:t>
            </a:r>
            <a:r>
              <a:rPr lang="en-US" b="0" baseline="0" noProof="0" dirty="0"/>
              <a:t>, Friedman, 2009, p. 223): EPE =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 + Bias^2 +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 err="1"/>
              <a:t>f</a:t>
            </a:r>
            <a:r>
              <a:rPr lang="en-US" b="0" baseline="0" noProof="0" dirty="0" err="1"/>
              <a:t>_hat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))</a:t>
            </a:r>
            <a:br>
              <a:rPr lang="en-US" b="0" baseline="0" noProof="0" dirty="0"/>
            </a:br>
            <a:r>
              <a:rPr lang="en-US" b="0" baseline="0" noProof="0" dirty="0"/>
              <a:t>Explanatory model: minimize bias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model: minimize bias and estimation variance</a:t>
            </a:r>
            <a:endParaRPr lang="en-US" b="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 err="1"/>
              <a:t>Konishi</a:t>
            </a:r>
            <a:r>
              <a:rPr lang="en-US" b="0" baseline="0" noProof="0" dirty="0"/>
              <a:t> and Kitagawa (2007): no significant difference between explanatory and predictive models if infinite large sample without noise is available.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baseline="0" noProof="0" dirty="0"/>
              <a:t>Bias – Variance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Expected prediction error for a new observation with value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, using a quadratic loss function (</a:t>
            </a:r>
            <a:r>
              <a:rPr lang="en-US" noProof="0" dirty="0"/>
              <a:t>Hastie, </a:t>
            </a:r>
            <a:r>
              <a:rPr lang="en-US" noProof="0" dirty="0" err="1"/>
              <a:t>Tibshirani</a:t>
            </a:r>
            <a:r>
              <a:rPr lang="en-US" noProof="0" dirty="0"/>
              <a:t>, Friedman, 2009, p. 223).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(Y) = error even if the model is correctly specified and accurately estimated.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Bias = misspecification of the statistical model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(f\hat(x)) = results from using a sample to estimate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 (estimation variance)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Explanatory models: focus on minimizing the Bias^2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models: minimize Bias^2 and estimation variance. Okay to sacrifice theoretical accuracy for improved precision.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Infinite sample and no measurement errors= explanatory model and predictive model the same </a:t>
            </a:r>
            <a:r>
              <a:rPr lang="en-US" b="0" i="1" baseline="0" noProof="0" dirty="0"/>
              <a:t>(? </a:t>
            </a:r>
            <a:r>
              <a:rPr lang="en-US" b="0" i="1" baseline="0" noProof="0" dirty="0" err="1"/>
              <a:t>Schlußfolgerung</a:t>
            </a:r>
            <a:r>
              <a:rPr lang="en-US" b="0" i="1" baseline="0" noProof="0" dirty="0"/>
              <a:t> Daniela)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baseline="0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-------------------------------------------------------</a:t>
            </a:r>
          </a:p>
          <a:p>
            <a:r>
              <a:rPr lang="en-US" noProof="0" dirty="0"/>
              <a:t>LITERATURE:</a:t>
            </a:r>
          </a:p>
          <a:p>
            <a:endParaRPr lang="en-US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Shumeli</a:t>
            </a:r>
            <a:r>
              <a:rPr lang="en-US" noProof="0" dirty="0"/>
              <a:t> 2010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Tripepi</a:t>
            </a:r>
            <a:r>
              <a:rPr lang="en-US" noProof="0" dirty="0"/>
              <a:t> 2008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/>
              <a:t>Harrell</a:t>
            </a:r>
            <a:r>
              <a:rPr lang="en-US" baseline="0" noProof="0" dirty="0"/>
              <a:t> 2001 book, chapter 1</a:t>
            </a:r>
          </a:p>
          <a:p>
            <a:endParaRPr lang="en-US" noProof="0" dirty="0"/>
          </a:p>
          <a:p>
            <a:r>
              <a:rPr lang="en-US" noProof="0" dirty="0"/>
              <a:t>-------------------------------------------------------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E3C9B3-19AC-4CA5-BEE2-56149DF2B9CE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01934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robustness analysis yields results </a:t>
            </a:r>
            <a:r>
              <a:rPr lang="en-US" b="1" dirty="0"/>
              <a:t>consistent with the original study e. g. s</a:t>
            </a:r>
            <a:r>
              <a:rPr lang="en-US" dirty="0"/>
              <a:t>ame variables selected: "BMI"    "Waist"  "Hips"   "Knee"   "Biceps“, final regression model has similar regression coefficients estimates and uncertainty intervals</a:t>
            </a:r>
          </a:p>
          <a:p>
            <a:r>
              <a:rPr lang="en-US" dirty="0"/>
              <a:t>Some differences e. g. In </a:t>
            </a:r>
            <a:r>
              <a:rPr lang="en-US" b="1" dirty="0"/>
              <a:t>Bayesian inference</a:t>
            </a:r>
            <a:r>
              <a:rPr lang="en-US" dirty="0"/>
              <a:t>, I can report an </a:t>
            </a:r>
            <a:r>
              <a:rPr lang="en-US" b="1" dirty="0"/>
              <a:t>uncertainty interval</a:t>
            </a:r>
            <a:r>
              <a:rPr lang="en-US" dirty="0"/>
              <a:t> for the </a:t>
            </a:r>
            <a:r>
              <a:rPr lang="en-US" b="1" dirty="0"/>
              <a:t>out-of-sample R²</a:t>
            </a:r>
            <a:r>
              <a:rPr lang="en-US" dirty="0"/>
              <a:t>, based on the posterior predictive distribution </a:t>
            </a:r>
            <a:r>
              <a:rPr lang="en-US" b="1" dirty="0"/>
              <a:t>or uncertainty intervals for calibration intercepts and calibrations slope </a:t>
            </a:r>
            <a:r>
              <a:rPr lang="en-US" dirty="0"/>
              <a:t>based on corresponding posterior distributions.</a:t>
            </a:r>
          </a:p>
          <a:p>
            <a:r>
              <a:rPr lang="en-US" dirty="0"/>
              <a:t>Concepts like optimism correction and resampling-based validation fit more naturally into the frequentist framework of sampling distributions than into traditional Bayesian thinking, which treats the data as fixed and focuses on posterior </a:t>
            </a:r>
            <a:r>
              <a:rPr lang="en-US" dirty="0" err="1"/>
              <a:t>summaries.However</a:t>
            </a:r>
            <a:r>
              <a:rPr lang="en-US" dirty="0"/>
              <a:t>, the modern Bayesian prediction culture increasingly embraces internal validation as a meaningful tool for assessing generalization and can be combined with e. g. bootstrap.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EDFF36-2726-40AA-99D6-4D73C8508E66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343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Rechteck 8"/>
          <p:cNvSpPr/>
          <p:nvPr userDrawn="1"/>
        </p:nvSpPr>
        <p:spPr>
          <a:xfrm>
            <a:off x="0" y="1"/>
            <a:ext cx="12192000" cy="63087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6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99" t="37454" r="166" b="2507"/>
          <a:stretch/>
        </p:blipFill>
        <p:spPr bwMode="auto">
          <a:xfrm>
            <a:off x="407159" y="6380020"/>
            <a:ext cx="1737484" cy="395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13546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3267664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9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86775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Sub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</p:spPr>
        <p:txBody>
          <a:bodyPr tIns="72000" bIns="0"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014539"/>
            <a:ext cx="10515600" cy="41624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838200" y="1341439"/>
            <a:ext cx="10515600" cy="630237"/>
          </a:xfrm>
        </p:spPr>
        <p:txBody>
          <a:bodyPr lIns="0" tIns="0" rIns="0" bIns="0"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668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800" y="365125"/>
            <a:ext cx="10515600" cy="972000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38800" y="5697788"/>
            <a:ext cx="10549467" cy="565429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noProof="0" dirty="0" err="1"/>
              <a:t>Bildunterschrift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838800" y="1425684"/>
            <a:ext cx="10566400" cy="4272104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/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992867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und Inhalt - schwarz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0052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Weiß">
    <p:bg>
      <p:bgPr>
        <a:solidFill>
          <a:schemeClr val="bg1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68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rosa">
    <p:bg>
      <p:bgPr>
        <a:solidFill>
          <a:schemeClr val="bg2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699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türkis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72948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832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976312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9" y="1341439"/>
            <a:ext cx="5157787" cy="859320"/>
          </a:xfrm>
        </p:spPr>
        <p:txBody>
          <a:bodyPr anchor="t"/>
          <a:lstStyle>
            <a:lvl1pPr marL="0" indent="0">
              <a:lnSpc>
                <a:spcPct val="110000"/>
              </a:lnSpc>
              <a:buNone/>
              <a:defRPr sz="2400" b="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9" y="2200759"/>
            <a:ext cx="5157787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1" y="1341439"/>
            <a:ext cx="5183188" cy="85932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lang="de-DE" sz="2400" b="0" kern="1200" dirty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 noProof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1" y="2200759"/>
            <a:ext cx="5183188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6819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14"/>
          </p:nvPr>
        </p:nvSpPr>
        <p:spPr>
          <a:xfrm>
            <a:off x="0" y="1"/>
            <a:ext cx="12192000" cy="63087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191252" y="457464"/>
            <a:ext cx="5160433" cy="5656064"/>
          </a:xfrm>
          <a:prstGeom prst="round2DiagRect">
            <a:avLst>
              <a:gd name="adj1" fmla="val 6468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>
            <a:norm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6452762" y="1438621"/>
            <a:ext cx="4781785" cy="450974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15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353800" y="6434322"/>
            <a:ext cx="618288" cy="314081"/>
          </a:xfrm>
        </p:spPr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64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52916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Inhaltsplatzhalter 6"/>
          <p:cNvSpPr>
            <a:spLocks noGrp="1" noChangeAspect="1"/>
          </p:cNvSpPr>
          <p:nvPr>
            <p:ph sz="quarter" idx="14"/>
          </p:nvPr>
        </p:nvSpPr>
        <p:spPr>
          <a:xfrm>
            <a:off x="6464301" y="1341438"/>
            <a:ext cx="4889500" cy="4853804"/>
          </a:xfrm>
          <a:prstGeom prst="round2DiagRect">
            <a:avLst>
              <a:gd name="adj1" fmla="val 8954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 tIns="72000" bIns="7200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05612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 abgerund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0690879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6678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348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" y="6308725"/>
            <a:ext cx="12192000" cy="5492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  <a:prstGeom prst="rect">
            <a:avLst/>
          </a:prstGeom>
        </p:spPr>
        <p:txBody>
          <a:bodyPr vert="horz" lIns="0" tIns="72000" rIns="0" bIns="0" rtlCol="0" anchor="t">
            <a:normAutofit/>
          </a:bodyPr>
          <a:lstStyle/>
          <a:p>
            <a:r>
              <a:rPr lang="en-GB" noProof="0" dirty="0" err="1"/>
              <a:t>Titelmasterformat</a:t>
            </a:r>
            <a:r>
              <a:rPr lang="en-GB" noProof="0" dirty="0"/>
              <a:t> </a:t>
            </a:r>
            <a:r>
              <a:rPr lang="en-GB" noProof="0" dirty="0" err="1"/>
              <a:t>durch</a:t>
            </a:r>
            <a:r>
              <a:rPr lang="en-GB" noProof="0" dirty="0"/>
              <a:t> </a:t>
            </a:r>
            <a:r>
              <a:rPr lang="en-GB" noProof="0" dirty="0" err="1"/>
              <a:t>Klicken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337126"/>
            <a:ext cx="10515600" cy="483983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GB" noProof="0" dirty="0" err="1"/>
              <a:t>Formatvorlagen</a:t>
            </a:r>
            <a:r>
              <a:rPr lang="en-GB" noProof="0" dirty="0"/>
              <a:t> des </a:t>
            </a:r>
            <a:r>
              <a:rPr lang="en-GB" noProof="0" dirty="0" err="1"/>
              <a:t>Textmasters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  <a:p>
            <a:pPr lvl="1"/>
            <a:r>
              <a:rPr lang="en-GB" noProof="0" dirty="0" err="1"/>
              <a:t>Zweite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2"/>
            <a:r>
              <a:rPr lang="en-GB" noProof="0" dirty="0" err="1"/>
              <a:t>Dritte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3"/>
            <a:r>
              <a:rPr lang="en-GB" noProof="0" dirty="0" err="1"/>
              <a:t>Vierte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4"/>
            <a:r>
              <a:rPr lang="en-GB" noProof="0" dirty="0" err="1"/>
              <a:t>Fünfte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353800" y="6434322"/>
            <a:ext cx="618288" cy="31408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>
                <a:solidFill>
                  <a:schemeClr val="bg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Picture 4"/>
          <p:cNvPicPr>
            <a:picLocks noChangeAspect="1" noChangeArrowheads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16" y="6389275"/>
            <a:ext cx="1694958" cy="355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538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6" r:id="rId2"/>
    <p:sldLayoutId id="2147483672" r:id="rId3"/>
    <p:sldLayoutId id="2147483661" r:id="rId4"/>
    <p:sldLayoutId id="2147483650" r:id="rId5"/>
    <p:sldLayoutId id="2147483677" r:id="rId6"/>
    <p:sldLayoutId id="2147483673" r:id="rId7"/>
    <p:sldLayoutId id="2147483664" r:id="rId8"/>
    <p:sldLayoutId id="2147483665" r:id="rId9"/>
    <p:sldLayoutId id="2147483652" r:id="rId10"/>
    <p:sldLayoutId id="2147483653" r:id="rId11"/>
    <p:sldLayoutId id="2147483660" r:id="rId12"/>
    <p:sldLayoutId id="2147483674" r:id="rId13"/>
    <p:sldLayoutId id="2147483675" r:id="rId14"/>
    <p:sldLayoutId id="2147483654" r:id="rId15"/>
    <p:sldLayoutId id="2147483655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63525" indent="-263525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2925" indent="-2794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806450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69975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347788" indent="-277813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507" userDrawn="1">
          <p15:clr>
            <a:srgbClr val="F26B43"/>
          </p15:clr>
        </p15:guide>
        <p15:guide id="2" pos="7151" userDrawn="1">
          <p15:clr>
            <a:srgbClr val="F26B43"/>
          </p15:clr>
        </p15:guide>
        <p15:guide id="3" orient="horz" pos="845" userDrawn="1">
          <p15:clr>
            <a:srgbClr val="F26B43"/>
          </p15:clr>
        </p15:guide>
        <p15:guide id="4" orient="horz" pos="404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pos="399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osf.io/zfjah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b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Georg Heinze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beauty of descriptive models – </a:t>
            </a:r>
            <a:r>
              <a:rPr lang="en-GB" sz="4000" dirty="0"/>
              <a:t>and </a:t>
            </a:r>
            <a:r>
              <a:rPr lang="en-GB" sz="4000" dirty="0" err="1"/>
              <a:t>bodyfat</a:t>
            </a:r>
            <a:r>
              <a:rPr lang="en-GB" sz="4000" dirty="0"/>
              <a:t> (the beast)</a:t>
            </a:r>
            <a:endParaRPr lang="en-GB" sz="48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Georg Heinze</a:t>
            </a:r>
            <a:br>
              <a:rPr lang="de-DE" dirty="0"/>
            </a:br>
            <a:r>
              <a:rPr lang="de-DE" dirty="0"/>
              <a:t>Institute </a:t>
            </a:r>
            <a:r>
              <a:rPr lang="de-DE" dirty="0" err="1"/>
              <a:t>of</a:t>
            </a:r>
            <a:r>
              <a:rPr lang="de-DE" dirty="0"/>
              <a:t> Clinical </a:t>
            </a:r>
            <a:r>
              <a:rPr lang="de-DE" dirty="0" err="1"/>
              <a:t>Biometrics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786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Outline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On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/>
              <a:t>The (</a:t>
            </a:r>
            <a:r>
              <a:rPr lang="de-DE" dirty="0" err="1"/>
              <a:t>ir</a:t>
            </a:r>
            <a:r>
              <a:rPr lang="de-DE" dirty="0"/>
              <a:t>)</a:t>
            </a:r>
            <a:r>
              <a:rPr lang="de-DE" dirty="0" err="1"/>
              <a:t>relevance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 </a:t>
            </a:r>
            <a:r>
              <a:rPr lang="de-DE" dirty="0" err="1"/>
              <a:t>selection</a:t>
            </a:r>
            <a:endParaRPr lang="de-AT" dirty="0"/>
          </a:p>
          <a:p>
            <a:r>
              <a:rPr lang="de-DE" dirty="0"/>
              <a:t>New </a:t>
            </a:r>
            <a:r>
              <a:rPr lang="de-DE" dirty="0" err="1"/>
              <a:t>task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5-parameter linear </a:t>
            </a:r>
            <a:r>
              <a:rPr lang="de-DE" dirty="0" err="1"/>
              <a:t>model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75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 err="1"/>
              <a:t>Purpose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Explain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Predict</a:t>
            </a:r>
            <a:r>
              <a:rPr lang="de-AT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4294967295"/>
          </p:nvPr>
        </p:nvSpPr>
        <p:spPr>
          <a:xfrm>
            <a:off x="838200" y="1159516"/>
            <a:ext cx="11193814" cy="452596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b="1" dirty="0"/>
              <a:t>Predictive models</a:t>
            </a:r>
          </a:p>
          <a:p>
            <a:pPr lvl="1"/>
            <a:r>
              <a:rPr lang="en-US" dirty="0"/>
              <a:t>Interest in predicting outcome for future application.</a:t>
            </a:r>
          </a:p>
          <a:p>
            <a:pPr lvl="1"/>
            <a:r>
              <a:rPr lang="en-US" dirty="0"/>
              <a:t>“Predict how outcomes will be, given the predictors.”</a:t>
            </a:r>
            <a:endParaRPr lang="de-AT" dirty="0"/>
          </a:p>
          <a:p>
            <a:r>
              <a:rPr lang="en-US" b="1" dirty="0"/>
              <a:t>Explanatory models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Interest in inferring causal effects of interventions on outcome.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“Explain why outcomes differ depending on the intervention.”</a:t>
            </a:r>
          </a:p>
          <a:p>
            <a:r>
              <a:rPr lang="de-AT" b="1" dirty="0" err="1"/>
              <a:t>Descriptive</a:t>
            </a:r>
            <a:r>
              <a:rPr lang="de-AT" b="1" dirty="0"/>
              <a:t> </a:t>
            </a:r>
            <a:r>
              <a:rPr lang="de-AT" b="1" dirty="0" err="1"/>
              <a:t>models</a:t>
            </a:r>
            <a:r>
              <a:rPr lang="de-AT" b="1" dirty="0"/>
              <a:t> </a:t>
            </a:r>
          </a:p>
          <a:p>
            <a:pPr lvl="1"/>
            <a:r>
              <a:rPr lang="de-AT" dirty="0"/>
              <a:t>Interest in </a:t>
            </a:r>
            <a:r>
              <a:rPr lang="de-AT" dirty="0" err="1"/>
              <a:t>describing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structure</a:t>
            </a:r>
            <a:r>
              <a:rPr lang="de-AT" dirty="0"/>
              <a:t> </a:t>
            </a:r>
            <a:r>
              <a:rPr lang="de-AT" dirty="0" err="1"/>
              <a:t>parsimoniously</a:t>
            </a:r>
            <a:r>
              <a:rPr lang="de-AT" dirty="0"/>
              <a:t>.</a:t>
            </a:r>
          </a:p>
          <a:p>
            <a:pPr lvl="1"/>
            <a:r>
              <a:rPr lang="en-US" dirty="0"/>
              <a:t>“</a:t>
            </a:r>
            <a:r>
              <a:rPr lang="de-AT" dirty="0" err="1"/>
              <a:t>Describe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outcome</a:t>
            </a:r>
            <a:r>
              <a:rPr lang="de-AT" dirty="0"/>
              <a:t> </a:t>
            </a:r>
            <a:r>
              <a:rPr lang="de-AT" dirty="0" err="1"/>
              <a:t>varies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predictors</a:t>
            </a:r>
            <a:r>
              <a:rPr lang="de-AT" dirty="0"/>
              <a:t>.“</a:t>
            </a:r>
          </a:p>
          <a:p>
            <a:r>
              <a:rPr lang="en-US" b="1" dirty="0">
                <a:sym typeface="Wingdings" panose="05000000000000000000" pitchFamily="2" charset="2"/>
              </a:rPr>
              <a:t>A given modeling task may have several dimensions! </a:t>
            </a:r>
            <a:r>
              <a:rPr lang="en-US" dirty="0">
                <a:sym typeface="Wingdings" panose="05000000000000000000" pitchFamily="2" charset="2"/>
              </a:rPr>
              <a:t>(e.g. descriptive-predictive)</a:t>
            </a:r>
          </a:p>
          <a:p>
            <a:r>
              <a:rPr lang="en-US" dirty="0">
                <a:sym typeface="Wingdings" panose="05000000000000000000" pitchFamily="2" charset="2"/>
              </a:rPr>
              <a:t>Similar considerations by Hernan et al, 2019; and Carlin and Moreno-</a:t>
            </a:r>
            <a:r>
              <a:rPr lang="en-US" dirty="0" err="1">
                <a:sym typeface="Wingdings" panose="05000000000000000000" pitchFamily="2" charset="2"/>
              </a:rPr>
              <a:t>Betancur</a:t>
            </a:r>
            <a:r>
              <a:rPr lang="en-US" dirty="0">
                <a:sym typeface="Wingdings" panose="05000000000000000000" pitchFamily="2" charset="2"/>
              </a:rPr>
              <a:t>,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5562" y="3636561"/>
            <a:ext cx="21467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de-AT" sz="2000" dirty="0"/>
              <a:t>(</a:t>
            </a:r>
            <a:r>
              <a:rPr lang="de-AT" sz="2000" dirty="0" err="1"/>
              <a:t>Shmueli</a:t>
            </a:r>
            <a:r>
              <a:rPr lang="de-AT" sz="2000" dirty="0"/>
              <a:t>, 2010)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CeMSIIS - Section for Clinical Biometrics</a:t>
            </a:r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AT" dirty="0"/>
              <a:t>Daniela Dunkler </a:t>
            </a:r>
            <a:r>
              <a:rPr lang="de-AT" dirty="0" err="1"/>
              <a:t>and</a:t>
            </a:r>
            <a:r>
              <a:rPr lang="de-AT" dirty="0"/>
              <a:t> Georg Heinze</a:t>
            </a:r>
            <a:endParaRPr lang="en-US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B11A4E2-7D7E-44E4-9D07-A27E43A3196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790" y="1159516"/>
            <a:ext cx="3011519" cy="208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96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‚</a:t>
            </a:r>
            <a:r>
              <a:rPr lang="de-DE" dirty="0" err="1"/>
              <a:t>trichonomy</a:t>
            </a:r>
            <a:r>
              <a:rPr lang="de-DE" dirty="0"/>
              <a:t>‘ (D/P/E)</a:t>
            </a:r>
          </a:p>
          <a:p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/>
              <a:t>„</a:t>
            </a:r>
            <a:r>
              <a:rPr lang="en-US" dirty="0"/>
              <a:t>characterizing the distribution of a feature or health outcome in a population”</a:t>
            </a:r>
          </a:p>
          <a:p>
            <a:r>
              <a:rPr lang="en-US" dirty="0"/>
              <a:t>Here: “curve fitting”</a:t>
            </a:r>
          </a:p>
          <a:p>
            <a:r>
              <a:rPr lang="en-US" dirty="0"/>
              <a:t>Model makes an important assumption. </a:t>
            </a:r>
            <a:r>
              <a:rPr lang="en-US" i="1" dirty="0"/>
              <a:t>Which one?</a:t>
            </a:r>
            <a:endParaRPr lang="de-AT" i="1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365125"/>
            <a:ext cx="6596915" cy="2558210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197" y="153054"/>
            <a:ext cx="4064905" cy="436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15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5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Unit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action</a:t>
            </a:r>
            <a:r>
              <a:rPr lang="de-DE" dirty="0"/>
              <a:t>: individual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collective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Description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in (</a:t>
            </a:r>
            <a:r>
              <a:rPr lang="de-DE" dirty="0" err="1"/>
              <a:t>sub</a:t>
            </a:r>
            <a:r>
              <a:rPr lang="de-DE" dirty="0"/>
              <a:t>)</a:t>
            </a:r>
            <a:r>
              <a:rPr lang="de-DE" dirty="0" err="1"/>
              <a:t>populations</a:t>
            </a:r>
            <a:r>
              <a:rPr lang="de-DE" dirty="0"/>
              <a:t> (</a:t>
            </a:r>
            <a:r>
              <a:rPr lang="de-DE" dirty="0" err="1"/>
              <a:t>collective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covariates</a:t>
            </a:r>
            <a:r>
              <a:rPr lang="de-DE" dirty="0"/>
              <a:t> (individual,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Mariana‘s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differences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(=</a:t>
            </a:r>
            <a:r>
              <a:rPr lang="de-DE" dirty="0" err="1"/>
              <a:t>associations</a:t>
            </a:r>
            <a:r>
              <a:rPr lang="de-DE" dirty="0"/>
              <a:t>, </a:t>
            </a:r>
            <a:r>
              <a:rPr lang="de-DE" dirty="0" err="1"/>
              <a:t>collective</a:t>
            </a:r>
            <a:r>
              <a:rPr lang="de-DE" dirty="0"/>
              <a:t>)?</a:t>
            </a:r>
          </a:p>
          <a:p>
            <a:r>
              <a:rPr lang="de-DE" dirty="0"/>
              <a:t>Variable </a:t>
            </a:r>
            <a:r>
              <a:rPr lang="de-DE" dirty="0" err="1"/>
              <a:t>names</a:t>
            </a:r>
            <a:r>
              <a:rPr lang="de-DE" dirty="0"/>
              <a:t> matter:</a:t>
            </a:r>
          </a:p>
          <a:p>
            <a:pPr lvl="1"/>
            <a:r>
              <a:rPr lang="de-DE" dirty="0" err="1"/>
              <a:t>Predictors</a:t>
            </a:r>
            <a:r>
              <a:rPr lang="de-DE" dirty="0"/>
              <a:t>, </a:t>
            </a:r>
            <a:r>
              <a:rPr lang="de-DE" dirty="0" err="1"/>
              <a:t>confounder</a:t>
            </a:r>
            <a:r>
              <a:rPr lang="de-DE" dirty="0"/>
              <a:t>/</a:t>
            </a:r>
            <a:r>
              <a:rPr lang="de-DE" dirty="0" err="1"/>
              <a:t>collider</a:t>
            </a:r>
            <a:r>
              <a:rPr lang="de-DE" dirty="0"/>
              <a:t>/</a:t>
            </a:r>
            <a:r>
              <a:rPr lang="de-DE" dirty="0" err="1"/>
              <a:t>mediator</a:t>
            </a:r>
            <a:r>
              <a:rPr lang="de-DE" dirty="0"/>
              <a:t>/</a:t>
            </a:r>
            <a:r>
              <a:rPr lang="de-DE" dirty="0" err="1"/>
              <a:t>instrument</a:t>
            </a:r>
            <a:r>
              <a:rPr lang="de-DE" dirty="0"/>
              <a:t>, </a:t>
            </a:r>
            <a:r>
              <a:rPr lang="de-DE" dirty="0" err="1"/>
              <a:t>covariate</a:t>
            </a:r>
            <a:r>
              <a:rPr lang="de-DE" dirty="0"/>
              <a:t>/</a:t>
            </a:r>
            <a:r>
              <a:rPr lang="de-DE" dirty="0" err="1"/>
              <a:t>independent</a:t>
            </a:r>
            <a:r>
              <a:rPr lang="de-DE" dirty="0"/>
              <a:t> variable? </a:t>
            </a:r>
          </a:p>
          <a:p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42" y="336386"/>
            <a:ext cx="6885394" cy="3260357"/>
          </a:xfrm>
          <a:prstGeom prst="rect">
            <a:avLst/>
          </a:prstGeom>
          <a:ln>
            <a:noFill/>
          </a:ln>
        </p:spPr>
      </p:pic>
      <p:cxnSp>
        <p:nvCxnSpPr>
          <p:cNvPr id="9" name="Gerader Verbinder 8"/>
          <p:cNvCxnSpPr/>
          <p:nvPr/>
        </p:nvCxnSpPr>
        <p:spPr>
          <a:xfrm flipV="1">
            <a:off x="3119948" y="1758160"/>
            <a:ext cx="1471674" cy="117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306" y="1284530"/>
            <a:ext cx="3986362" cy="226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35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„</a:t>
            </a:r>
            <a:r>
              <a:rPr lang="de-DE" dirty="0" err="1"/>
              <a:t>outcome</a:t>
            </a:r>
            <a:r>
              <a:rPr lang="de-DE" dirty="0"/>
              <a:t>“ Y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essential </a:t>
            </a:r>
            <a:r>
              <a:rPr lang="de-DE" dirty="0" err="1"/>
              <a:t>covariates</a:t>
            </a:r>
            <a:r>
              <a:rPr lang="de-DE" dirty="0"/>
              <a:t> X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possible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 err="1"/>
              <a:t>Parsimonious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a simple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, simple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derive</a:t>
            </a:r>
            <a:r>
              <a:rPr lang="de-DE" dirty="0"/>
              <a:t> partial </a:t>
            </a:r>
            <a:r>
              <a:rPr lang="de-DE" dirty="0" err="1"/>
              <a:t>associations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statements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Y|X</a:t>
            </a:r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overestimation</a:t>
            </a:r>
            <a:r>
              <a:rPr lang="de-DE" i="1" dirty="0"/>
              <a:t>/</a:t>
            </a:r>
            <a:r>
              <a:rPr lang="de-DE" i="1" dirty="0" err="1"/>
              <a:t>overinterpretation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partial </a:t>
            </a:r>
            <a:r>
              <a:rPr lang="de-DE" i="1" dirty="0" err="1"/>
              <a:t>associations</a:t>
            </a:r>
            <a:r>
              <a:rPr lang="de-DE" i="1" dirty="0"/>
              <a:t>, </a:t>
            </a:r>
            <a:r>
              <a:rPr lang="de-DE" i="1" dirty="0" err="1"/>
              <a:t>neglecting</a:t>
            </a:r>
            <a:r>
              <a:rPr lang="de-DE" i="1" dirty="0"/>
              <a:t> </a:t>
            </a:r>
            <a:r>
              <a:rPr lang="de-DE" i="1" dirty="0" err="1"/>
              <a:t>others</a:t>
            </a:r>
            <a:endParaRPr lang="de-DE" i="1" dirty="0"/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underestimation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uncertainty</a:t>
            </a:r>
            <a:endParaRPr lang="de-DE" i="1" dirty="0"/>
          </a:p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a non-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</a:t>
            </a:r>
            <a:r>
              <a:rPr lang="de-DE" dirty="0" err="1"/>
              <a:t>outcome</a:t>
            </a:r>
            <a:r>
              <a:rPr lang="de-DE" dirty="0"/>
              <a:t> Y </a:t>
            </a:r>
            <a:r>
              <a:rPr lang="de-DE" dirty="0" err="1"/>
              <a:t>with</a:t>
            </a:r>
            <a:r>
              <a:rPr lang="de-DE" dirty="0"/>
              <a:t> an </a:t>
            </a:r>
            <a:r>
              <a:rPr lang="de-DE" dirty="0" err="1"/>
              <a:t>independent</a:t>
            </a:r>
            <a:r>
              <a:rPr lang="de-DE" dirty="0"/>
              <a:t> variable/</a:t>
            </a:r>
            <a:r>
              <a:rPr lang="de-DE" dirty="0" err="1"/>
              <a:t>exposure</a:t>
            </a:r>
            <a:r>
              <a:rPr lang="de-DE" dirty="0"/>
              <a:t> X, </a:t>
            </a:r>
            <a:r>
              <a:rPr lang="de-DE" dirty="0" err="1"/>
              <a:t>possibly</a:t>
            </a:r>
            <a:r>
              <a:rPr lang="de-DE" dirty="0"/>
              <a:t>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covariates</a:t>
            </a:r>
            <a:endParaRPr lang="de-DE" dirty="0"/>
          </a:p>
          <a:p>
            <a:pPr lvl="1"/>
            <a:r>
              <a:rPr lang="de-DE" dirty="0"/>
              <a:t>‚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fitting</a:t>
            </a:r>
            <a:r>
              <a:rPr lang="de-DE" dirty="0"/>
              <a:t>‘: </a:t>
            </a:r>
          </a:p>
          <a:p>
            <a:pPr lvl="2"/>
            <a:r>
              <a:rPr lang="de-DE" dirty="0" err="1"/>
              <a:t>smoothing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-bias trade-off </a:t>
            </a:r>
          </a:p>
          <a:p>
            <a:pPr lvl="2"/>
            <a:r>
              <a:rPr lang="de-DE" dirty="0"/>
              <a:t>separate </a:t>
            </a:r>
            <a:r>
              <a:rPr lang="de-DE" dirty="0" err="1"/>
              <a:t>systematic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unsystematic</a:t>
            </a:r>
            <a:r>
              <a:rPr lang="de-DE" dirty="0"/>
              <a:t> </a:t>
            </a:r>
            <a:r>
              <a:rPr lang="de-DE" dirty="0" err="1"/>
              <a:t>variation</a:t>
            </a:r>
            <a:endParaRPr lang="de-DE" dirty="0"/>
          </a:p>
          <a:p>
            <a:pPr lvl="2"/>
            <a:r>
              <a:rPr lang="de-DE" dirty="0"/>
              <a:t>simple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 err="1"/>
              <a:t>preferred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 err="1"/>
              <a:t>try</a:t>
            </a:r>
            <a:r>
              <a:rPr lang="de-DE" i="1" dirty="0"/>
              <a:t> </a:t>
            </a:r>
            <a:r>
              <a:rPr lang="de-DE" i="1" dirty="0" err="1"/>
              <a:t>to</a:t>
            </a:r>
            <a:r>
              <a:rPr lang="de-DE" i="1" dirty="0"/>
              <a:t> </a:t>
            </a:r>
            <a:r>
              <a:rPr lang="de-DE" i="1" dirty="0" err="1"/>
              <a:t>publish</a:t>
            </a:r>
            <a:r>
              <a:rPr lang="de-DE" i="1" dirty="0"/>
              <a:t> a </a:t>
            </a:r>
            <a:r>
              <a:rPr lang="de-DE" i="1" dirty="0" err="1"/>
              <a:t>formula</a:t>
            </a:r>
            <a:r>
              <a:rPr lang="de-DE" i="1" dirty="0"/>
              <a:t> </a:t>
            </a:r>
            <a:r>
              <a:rPr lang="de-DE" i="1" dirty="0" err="1"/>
              <a:t>with</a:t>
            </a:r>
            <a:r>
              <a:rPr lang="de-DE" i="1" dirty="0"/>
              <a:t> </a:t>
            </a:r>
            <a:r>
              <a:rPr lang="de-DE" i="1" dirty="0" err="1"/>
              <a:t>truncated</a:t>
            </a:r>
            <a:r>
              <a:rPr lang="de-DE" i="1" dirty="0"/>
              <a:t> power </a:t>
            </a:r>
            <a:r>
              <a:rPr lang="de-DE" i="1" dirty="0" err="1"/>
              <a:t>functions</a:t>
            </a:r>
            <a:r>
              <a:rPr lang="de-DE" i="1" dirty="0"/>
              <a:t> in a </a:t>
            </a:r>
            <a:r>
              <a:rPr lang="de-DE" i="1" dirty="0" err="1"/>
              <a:t>medical</a:t>
            </a:r>
            <a:r>
              <a:rPr lang="de-DE" i="1" dirty="0"/>
              <a:t> </a:t>
            </a:r>
            <a:r>
              <a:rPr lang="de-DE" i="1" dirty="0" err="1"/>
              <a:t>journal</a:t>
            </a:r>
            <a:r>
              <a:rPr lang="de-DE" i="1" dirty="0"/>
              <a:t>!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Kidney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</a:t>
            </a:r>
            <a:r>
              <a:rPr lang="de-DE" dirty="0"/>
              <a:t>, CV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Lipoprotein</a:t>
            </a:r>
            <a:r>
              <a:rPr lang="de-DE" dirty="0"/>
              <a:t>(a), BMI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age+sex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615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: </a:t>
            </a: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Background:</a:t>
            </a:r>
          </a:p>
          <a:p>
            <a:pPr lvl="1"/>
            <a:r>
              <a:rPr lang="de-DE" dirty="0"/>
              <a:t>Body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difficult</a:t>
            </a:r>
            <a:r>
              <a:rPr lang="de-DE" dirty="0"/>
              <a:t>;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underwater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;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= total </a:t>
            </a:r>
            <a:r>
              <a:rPr lang="de-DE" dirty="0" err="1"/>
              <a:t>mass</a:t>
            </a:r>
            <a:r>
              <a:rPr lang="de-DE" dirty="0"/>
              <a:t> –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bodyfat</a:t>
            </a:r>
            <a:r>
              <a:rPr lang="de-DE" dirty="0"/>
              <a:t>% =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/ total </a:t>
            </a:r>
            <a:r>
              <a:rPr lang="de-DE" dirty="0" err="1"/>
              <a:t>mass</a:t>
            </a:r>
            <a:r>
              <a:rPr lang="de-DE" dirty="0"/>
              <a:t> x 100%</a:t>
            </a:r>
          </a:p>
          <a:p>
            <a:pPr lvl="1"/>
            <a:r>
              <a:rPr lang="de-DE" dirty="0" err="1"/>
              <a:t>Various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, e.g. </a:t>
            </a:r>
            <a:r>
              <a:rPr lang="de-DE" dirty="0" err="1"/>
              <a:t>based</a:t>
            </a:r>
            <a:r>
              <a:rPr lang="de-DE" dirty="0"/>
              <a:t> on NHANES </a:t>
            </a:r>
            <a:r>
              <a:rPr lang="de-DE" dirty="0" err="1"/>
              <a:t>data</a:t>
            </a:r>
            <a:r>
              <a:rPr lang="de-DE" dirty="0"/>
              <a:t> (Stevens et al, 2016)</a:t>
            </a:r>
          </a:p>
          <a:p>
            <a:pPr lvl="1"/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(1996, 2021)</a:t>
            </a:r>
          </a:p>
          <a:p>
            <a:endParaRPr lang="de-DE" dirty="0"/>
          </a:p>
          <a:p>
            <a:r>
              <a:rPr lang="de-DE" dirty="0"/>
              <a:t>Research </a:t>
            </a:r>
            <a:r>
              <a:rPr lang="de-DE" dirty="0" err="1"/>
              <a:t>question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5 out </a:t>
            </a:r>
            <a:r>
              <a:rPr lang="de-DE" dirty="0" err="1"/>
              <a:t>of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anthropometric</a:t>
            </a:r>
            <a:r>
              <a:rPr lang="de-DE" dirty="0"/>
              <a:t> variables.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‚</a:t>
            </a:r>
            <a:r>
              <a:rPr lang="de-DE" dirty="0" err="1"/>
              <a:t>describable</a:t>
            </a:r>
            <a:r>
              <a:rPr lang="de-DE" dirty="0"/>
              <a:t>‘ but also </a:t>
            </a:r>
            <a:r>
              <a:rPr lang="de-DE" dirty="0" err="1"/>
              <a:t>predictive</a:t>
            </a:r>
            <a:r>
              <a:rPr lang="de-DE" dirty="0"/>
              <a:t>: </a:t>
            </a:r>
            <a:r>
              <a:rPr lang="de-DE" dirty="0" err="1"/>
              <a:t>descriptive-predictive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  <a:p>
            <a:r>
              <a:rPr lang="de-DE" dirty="0"/>
              <a:t>Data </a:t>
            </a:r>
            <a:r>
              <a:rPr lang="de-DE" dirty="0" err="1"/>
              <a:t>set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Training: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(2021): 184 </a:t>
            </a:r>
            <a:r>
              <a:rPr lang="de-DE" dirty="0" err="1"/>
              <a:t>college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18-25</a:t>
            </a:r>
          </a:p>
          <a:p>
            <a:pPr lvl="1"/>
            <a:r>
              <a:rPr lang="de-DE" dirty="0"/>
              <a:t>Validation: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(1996): 252 </a:t>
            </a:r>
            <a:r>
              <a:rPr lang="de-DE" dirty="0" err="1"/>
              <a:t>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18-80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34319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from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34" y="1284530"/>
            <a:ext cx="5660720" cy="3717569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854" y="1337125"/>
            <a:ext cx="5491987" cy="360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31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Estimands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(</a:t>
            </a:r>
            <a:r>
              <a:rPr lang="de-DE" dirty="0" err="1"/>
              <a:t>binary</a:t>
            </a:r>
            <a:r>
              <a:rPr lang="de-DE" dirty="0"/>
              <a:t>)</a:t>
            </a:r>
          </a:p>
          <a:p>
            <a:r>
              <a:rPr lang="de-DE" dirty="0"/>
              <a:t>Regression </a:t>
            </a:r>
            <a:r>
              <a:rPr lang="de-DE" dirty="0" err="1"/>
              <a:t>coefficients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transportability</a:t>
            </a:r>
            <a:br>
              <a:rPr lang="de-DE" dirty="0"/>
            </a:b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R-</a:t>
            </a:r>
            <a:r>
              <a:rPr lang="de-DE" dirty="0" err="1"/>
              <a:t>squared</a:t>
            </a:r>
            <a:endParaRPr lang="de-DE" dirty="0"/>
          </a:p>
          <a:p>
            <a:pPr lvl="1"/>
            <a:r>
              <a:rPr lang="de-DE" dirty="0"/>
              <a:t>Root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squared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lvl="1"/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+ </a:t>
            </a:r>
            <a:r>
              <a:rPr lang="de-DE" dirty="0" err="1"/>
              <a:t>intercept</a:t>
            </a:r>
            <a:endParaRPr lang="de-DE" dirty="0"/>
          </a:p>
          <a:p>
            <a:pPr lvl="1"/>
            <a:endParaRPr lang="de-DE" dirty="0"/>
          </a:p>
          <a:p>
            <a:pPr lvl="1"/>
            <a:endParaRPr lang="de-AT" dirty="0"/>
          </a:p>
        </p:txBody>
      </p:sp>
      <p:sp>
        <p:nvSpPr>
          <p:cNvPr id="7" name="Geschweifte Klammer rechts 6"/>
          <p:cNvSpPr/>
          <p:nvPr/>
        </p:nvSpPr>
        <p:spPr>
          <a:xfrm>
            <a:off x="8551406" y="1394032"/>
            <a:ext cx="155448" cy="9144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Geschweifte Klammer rechts 7"/>
          <p:cNvSpPr/>
          <p:nvPr/>
        </p:nvSpPr>
        <p:spPr>
          <a:xfrm>
            <a:off x="8551406" y="2471695"/>
            <a:ext cx="204072" cy="20767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Textfeld 8"/>
          <p:cNvSpPr txBox="1"/>
          <p:nvPr/>
        </p:nvSpPr>
        <p:spPr>
          <a:xfrm>
            <a:off x="9026266" y="1632577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descriptive</a:t>
            </a:r>
            <a:endParaRPr lang="de-AT" dirty="0"/>
          </a:p>
        </p:txBody>
      </p:sp>
      <p:sp>
        <p:nvSpPr>
          <p:cNvPr id="10" name="Textfeld 9"/>
          <p:cNvSpPr txBox="1"/>
          <p:nvPr/>
        </p:nvSpPr>
        <p:spPr>
          <a:xfrm>
            <a:off x="8978519" y="3111525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predictive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45058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Proposed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linear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 </a:t>
            </a:r>
            <a:r>
              <a:rPr lang="de-DE" dirty="0" err="1"/>
              <a:t>only</a:t>
            </a:r>
            <a:endParaRPr lang="de-DE" dirty="0"/>
          </a:p>
          <a:p>
            <a:pPr lvl="1"/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argue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%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restricted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0-100% -&gt; </a:t>
            </a:r>
            <a:br>
              <a:rPr lang="de-DE" dirty="0"/>
            </a:br>
            <a:r>
              <a:rPr lang="de-DE" dirty="0"/>
              <a:t>zero-</a:t>
            </a:r>
            <a:r>
              <a:rPr lang="de-DE" dirty="0" err="1"/>
              <a:t>inflated</a:t>
            </a:r>
            <a:r>
              <a:rPr lang="de-DE" dirty="0"/>
              <a:t> </a:t>
            </a:r>
            <a:r>
              <a:rPr lang="de-DE" dirty="0" err="1"/>
              <a:t>beta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obtain</a:t>
            </a:r>
            <a:r>
              <a:rPr lang="de-DE" dirty="0"/>
              <a:t> max. 5 </a:t>
            </a:r>
            <a:r>
              <a:rPr lang="de-DE" dirty="0" err="1"/>
              <a:t>predictors</a:t>
            </a:r>
            <a:r>
              <a:rPr lang="de-DE" dirty="0"/>
              <a:t> </a:t>
            </a:r>
          </a:p>
          <a:p>
            <a:pPr lvl="2"/>
            <a:r>
              <a:rPr lang="de-DE" dirty="0"/>
              <a:t>Simple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describable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Relaxed Lasso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size</a:t>
            </a:r>
            <a:r>
              <a:rPr lang="de-DE" dirty="0"/>
              <a:t> (5)</a:t>
            </a:r>
          </a:p>
          <a:p>
            <a:r>
              <a:rPr lang="de-DE" dirty="0" err="1"/>
              <a:t>Assessing</a:t>
            </a:r>
            <a:r>
              <a:rPr lang="de-DE" dirty="0"/>
              <a:t> </a:t>
            </a:r>
            <a:r>
              <a:rPr lang="de-DE" dirty="0" err="1"/>
              <a:t>apparent</a:t>
            </a:r>
            <a:r>
              <a:rPr lang="de-DE" dirty="0"/>
              <a:t> </a:t>
            </a:r>
            <a:r>
              <a:rPr lang="de-DE" dirty="0" err="1"/>
              <a:t>validity</a:t>
            </a:r>
            <a:endParaRPr lang="de-DE" dirty="0"/>
          </a:p>
          <a:p>
            <a:pPr lvl="1"/>
            <a:r>
              <a:rPr lang="de-DE" dirty="0"/>
              <a:t>Overall (</a:t>
            </a:r>
            <a:r>
              <a:rPr lang="de-DE" dirty="0" err="1"/>
              <a:t>local</a:t>
            </a:r>
            <a:r>
              <a:rPr lang="de-DE" dirty="0"/>
              <a:t>) </a:t>
            </a:r>
            <a:r>
              <a:rPr lang="de-DE" dirty="0" err="1"/>
              <a:t>calibration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linear </a:t>
            </a:r>
            <a:r>
              <a:rPr lang="de-DE" dirty="0" err="1"/>
              <a:t>predictor</a:t>
            </a:r>
            <a:endParaRPr lang="de-DE" dirty="0"/>
          </a:p>
          <a:p>
            <a:pPr lvl="1"/>
            <a:r>
              <a:rPr lang="de-DE" dirty="0" err="1"/>
              <a:t>Validity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linearity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Independence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Distributional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normality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8476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description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de-DE" dirty="0"/>
                  <a:t>Model </a:t>
                </a:r>
                <a:r>
                  <a:rPr lang="de-DE" dirty="0" err="1"/>
                  <a:t>should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‚</a:t>
                </a:r>
                <a:r>
                  <a:rPr lang="de-DE" dirty="0" err="1"/>
                  <a:t>describable</a:t>
                </a:r>
                <a:r>
                  <a:rPr lang="de-DE" dirty="0"/>
                  <a:t>‘ (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call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‚</a:t>
                </a:r>
                <a:r>
                  <a:rPr lang="de-DE" dirty="0" err="1"/>
                  <a:t>explainable</a:t>
                </a:r>
                <a:r>
                  <a:rPr lang="de-DE" dirty="0"/>
                  <a:t>‘:</a:t>
                </a:r>
              </a:p>
              <a:p>
                <a:pPr lvl="1"/>
                <a:r>
                  <a:rPr lang="de-DE" dirty="0"/>
                  <a:t>Regression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pPr lvl="1"/>
                <a:r>
                  <a:rPr lang="de-DE" dirty="0" err="1"/>
                  <a:t>Standardized</a:t>
                </a:r>
                <a:r>
                  <a:rPr lang="de-DE" dirty="0"/>
                  <a:t> </a:t>
                </a:r>
                <a:r>
                  <a:rPr lang="de-DE" dirty="0" err="1"/>
                  <a:t>regression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de-AT" dirty="0"/>
                  <a:t>%</a:t>
                </a:r>
                <a:r>
                  <a:rPr lang="de-AT" dirty="0" err="1"/>
                  <a:t>bodyfat</a:t>
                </a:r>
                <a:r>
                  <a:rPr lang="de-AT" dirty="0"/>
                  <a:t> per SD(x))</a:t>
                </a:r>
              </a:p>
              <a:p>
                <a:pPr lvl="1"/>
                <a:r>
                  <a:rPr lang="de-DE" dirty="0"/>
                  <a:t>Drop-in-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AT" dirty="0"/>
              </a:p>
              <a:p>
                <a:r>
                  <a:rPr lang="de-DE" dirty="0"/>
                  <a:t>Model </a:t>
                </a:r>
                <a:r>
                  <a:rPr lang="de-DE" dirty="0" err="1"/>
                  <a:t>stability</a:t>
                </a:r>
                <a:r>
                  <a:rPr lang="de-DE" dirty="0"/>
                  <a:t> (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bootstrap</a:t>
                </a:r>
                <a:r>
                  <a:rPr lang="de-DE" dirty="0"/>
                  <a:t>):</a:t>
                </a:r>
              </a:p>
              <a:p>
                <a:pPr lvl="1"/>
                <a:r>
                  <a:rPr lang="de-DE" dirty="0" err="1"/>
                  <a:t>Selection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predictor</a:t>
                </a:r>
                <a:endParaRPr lang="de-DE" dirty="0"/>
              </a:p>
              <a:p>
                <a:pPr lvl="1"/>
                <a:r>
                  <a:rPr lang="de-DE" dirty="0" err="1"/>
                  <a:t>Variability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(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, Riley &amp; Collins 2023)</a:t>
                </a:r>
              </a:p>
              <a:p>
                <a:pPr lvl="1"/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final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predictors</a:t>
                </a:r>
                <a:endParaRPr lang="de-DE" dirty="0"/>
              </a:p>
              <a:p>
                <a:pPr lvl="1"/>
                <a:endParaRPr lang="de-AT" dirty="0"/>
              </a:p>
              <a:p>
                <a:pPr lvl="1"/>
                <a:endParaRPr lang="de-AT" dirty="0"/>
              </a:p>
            </p:txBody>
          </p:sp>
        </mc:Choice>
        <mc:Fallback xmlns="">
          <p:sp>
            <p:nvSpPr>
              <p:cNvPr id="6" name="Inhaltsplatzhalt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13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013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Screenshot, Schrift, Diagramm enthält.&#10;&#10;KI-generierte Inhalte können fehlerhaft sein.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62" y="1793099"/>
            <a:ext cx="6540576" cy="364472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Schmidt, Klinger, Sauerbrei, Heinze (2025), </a:t>
            </a:r>
            <a:r>
              <a:rPr lang="de-DE" dirty="0" err="1"/>
              <a:t>Biometric</a:t>
            </a:r>
            <a:r>
              <a:rPr lang="de-DE" dirty="0"/>
              <a:t> Bulletin 42(2) 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issue</a:t>
            </a:r>
            <a:r>
              <a:rPr lang="de-DE" dirty="0"/>
              <a:t>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in-</a:t>
            </a:r>
            <a:r>
              <a:rPr lang="de-DE" dirty="0" err="1"/>
              <a:t>built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corrected</a:t>
            </a:r>
            <a:endParaRPr lang="de-DE" dirty="0"/>
          </a:p>
          <a:p>
            <a:r>
              <a:rPr lang="de-DE" dirty="0" err="1"/>
              <a:t>Some</a:t>
            </a:r>
            <a:r>
              <a:rPr lang="de-DE" dirty="0"/>
              <a:t> variables </a:t>
            </a:r>
            <a:r>
              <a:rPr lang="de-DE" dirty="0" err="1"/>
              <a:t>have</a:t>
            </a:r>
            <a:r>
              <a:rPr lang="de-DE" dirty="0"/>
              <a:t> different </a:t>
            </a:r>
            <a:r>
              <a:rPr lang="de-DE" dirty="0" err="1"/>
              <a:t>names</a:t>
            </a:r>
            <a:r>
              <a:rPr lang="de-DE" dirty="0"/>
              <a:t>,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somewhat</a:t>
            </a:r>
            <a:r>
              <a:rPr lang="de-DE" dirty="0"/>
              <a:t> different </a:t>
            </a:r>
            <a:r>
              <a:rPr lang="de-DE" dirty="0" err="1"/>
              <a:t>definitions</a:t>
            </a:r>
            <a:endParaRPr lang="de-DE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10361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323" y="2402447"/>
            <a:ext cx="4621123" cy="318044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corrected</a:t>
            </a:r>
            <a:r>
              <a:rPr lang="de-DE" dirty="0"/>
              <a:t> (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NA)</a:t>
            </a:r>
          </a:p>
          <a:p>
            <a:r>
              <a:rPr lang="de-DE" dirty="0"/>
              <a:t>Data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harmonized</a:t>
            </a:r>
            <a:endParaRPr lang="de-DE" dirty="0"/>
          </a:p>
          <a:p>
            <a:r>
              <a:rPr lang="de-DE" dirty="0"/>
              <a:t>IDA was </a:t>
            </a:r>
            <a:r>
              <a:rPr lang="de-DE" dirty="0" err="1"/>
              <a:t>performed</a:t>
            </a:r>
            <a:endParaRPr lang="de-DE" dirty="0"/>
          </a:p>
          <a:p>
            <a:pPr marL="263525" lvl="1" indent="0">
              <a:buNone/>
            </a:pP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3689" y="2499858"/>
            <a:ext cx="4421905" cy="308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28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Analysis Plan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 a SAP 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SAPI </a:t>
            </a:r>
            <a:r>
              <a:rPr lang="de-DE" dirty="0" err="1"/>
              <a:t>guideline</a:t>
            </a:r>
            <a:r>
              <a:rPr lang="de-DE" dirty="0"/>
              <a:t> (</a:t>
            </a:r>
            <a:r>
              <a:rPr lang="de-DE" dirty="0" err="1"/>
              <a:t>currently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development</a:t>
            </a:r>
            <a:r>
              <a:rPr lang="de-DE" dirty="0"/>
              <a:t>, </a:t>
            </a:r>
            <a:r>
              <a:rPr lang="de-DE" dirty="0" err="1"/>
              <a:t>see</a:t>
            </a:r>
            <a:br>
              <a:rPr lang="de-DE" dirty="0"/>
            </a:br>
            <a:r>
              <a:rPr lang="de-DE" dirty="0">
                <a:hlinkClick r:id="rId2"/>
              </a:rPr>
              <a:t>https://osf.io/zfjah/</a:t>
            </a:r>
            <a:endParaRPr lang="de-DE" dirty="0"/>
          </a:p>
          <a:p>
            <a:r>
              <a:rPr lang="de-DE" dirty="0"/>
              <a:t>The SAP </a:t>
            </a:r>
            <a:r>
              <a:rPr lang="de-DE" dirty="0" err="1"/>
              <a:t>integrates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analysis</a:t>
            </a:r>
            <a:br>
              <a:rPr lang="de-DE" dirty="0"/>
            </a:b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check</a:t>
            </a:r>
          </a:p>
          <a:p>
            <a:r>
              <a:rPr lang="de-DE" dirty="0" err="1"/>
              <a:t>Analyses</a:t>
            </a:r>
            <a:r>
              <a:rPr lang="de-DE" dirty="0"/>
              <a:t> </a:t>
            </a:r>
            <a:r>
              <a:rPr lang="de-DE" dirty="0" err="1"/>
              <a:t>performed</a:t>
            </a:r>
            <a:r>
              <a:rPr lang="de-DE" dirty="0"/>
              <a:t> in </a:t>
            </a:r>
            <a:r>
              <a:rPr lang="de-DE" dirty="0" err="1"/>
              <a:t>our</a:t>
            </a:r>
            <a:br>
              <a:rPr lang="de-DE" dirty="0"/>
            </a:b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GitHub</a:t>
            </a:r>
            <a:r>
              <a:rPr lang="de-DE" dirty="0"/>
              <a:t> </a:t>
            </a:r>
            <a:r>
              <a:rPr lang="de-DE" dirty="0" err="1"/>
              <a:t>repository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882" y="51881"/>
            <a:ext cx="6152048" cy="6148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29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15</a:t>
            </a:fld>
            <a:endParaRPr lang="de-DE"/>
          </a:p>
        </p:txBody>
      </p:sp>
      <p:pic>
        <p:nvPicPr>
          <p:cNvPr id="7" name="Inhaltsplatzhalter 6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56909" y="1000009"/>
            <a:ext cx="7269804" cy="496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709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diagnostics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1337125"/>
            <a:ext cx="3561058" cy="2489227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22" y="1337125"/>
            <a:ext cx="3529105" cy="2489227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158" y="1337125"/>
            <a:ext cx="3649909" cy="25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24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not </a:t>
            </a:r>
            <a:r>
              <a:rPr lang="de-DE" dirty="0" err="1"/>
              <a:t>indicate</a:t>
            </a:r>
            <a:r>
              <a:rPr lang="de-DE" dirty="0"/>
              <a:t> </a:t>
            </a:r>
            <a:r>
              <a:rPr lang="de-DE" dirty="0" err="1"/>
              <a:t>major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.</a:t>
            </a:r>
          </a:p>
          <a:p>
            <a:r>
              <a:rPr lang="de-DE" dirty="0" err="1"/>
              <a:t>We</a:t>
            </a:r>
            <a:r>
              <a:rPr lang="de-DE" dirty="0"/>
              <a:t> also </a:t>
            </a:r>
            <a:r>
              <a:rPr lang="de-DE" dirty="0" err="1"/>
              <a:t>assessed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top-3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if</a:t>
            </a:r>
            <a:r>
              <a:rPr lang="de-DE" dirty="0"/>
              <a:t> Lasso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extended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8 variables):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These variables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issues</a:t>
            </a:r>
            <a:r>
              <a:rPr lang="de-DE" dirty="0"/>
              <a:t>, </a:t>
            </a:r>
            <a:br>
              <a:rPr lang="de-DE" dirty="0"/>
            </a:b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‚</a:t>
            </a:r>
            <a:r>
              <a:rPr lang="de-DE" dirty="0" err="1"/>
              <a:t>next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‘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168" y="2811981"/>
            <a:ext cx="3283858" cy="2317698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96" y="2803393"/>
            <a:ext cx="3422963" cy="232628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008" y="2843671"/>
            <a:ext cx="3264559" cy="228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544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instability</a:t>
            </a:r>
            <a:r>
              <a:rPr lang="de-DE" dirty="0"/>
              <a:t> </a:t>
            </a:r>
            <a:r>
              <a:rPr lang="de-DE" dirty="0" err="1"/>
              <a:t>plot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Bootstrap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0.823</a:t>
            </a:r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br>
              <a:rPr lang="de-AT" dirty="0"/>
            </a:br>
            <a:r>
              <a:rPr lang="de-AT" dirty="0"/>
              <a:t>0.640</a:t>
            </a:r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 Variable </a:t>
            </a:r>
            <a:r>
              <a:rPr lang="de-DE" dirty="0" err="1">
                <a:sym typeface="Wingdings" panose="05000000000000000000" pitchFamily="2" charset="2"/>
              </a:rPr>
              <a:t>selection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produced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‚</a:t>
            </a:r>
            <a:r>
              <a:rPr lang="de-DE" dirty="0" err="1">
                <a:sym typeface="Wingdings" panose="05000000000000000000" pitchFamily="2" charset="2"/>
              </a:rPr>
              <a:t>unnoticed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uncertainty</a:t>
            </a:r>
            <a:r>
              <a:rPr lang="de-DE" dirty="0">
                <a:sym typeface="Wingdings" panose="05000000000000000000" pitchFamily="2" charset="2"/>
              </a:rPr>
              <a:t>‘!</a:t>
            </a:r>
            <a:endParaRPr lang="de-DE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795" y="960376"/>
            <a:ext cx="6847293" cy="44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777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validation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Apparent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At </a:t>
            </a:r>
            <a:r>
              <a:rPr lang="de-DE" dirty="0" err="1"/>
              <a:t>validation</a:t>
            </a:r>
            <a:r>
              <a:rPr lang="de-DE" dirty="0"/>
              <a:t> in </a:t>
            </a:r>
            <a:r>
              <a:rPr lang="de-DE" dirty="0" err="1"/>
              <a:t>men</a:t>
            </a:r>
            <a:r>
              <a:rPr lang="de-DE" dirty="0"/>
              <a:t>:</a:t>
            </a:r>
            <a:endParaRPr lang="de-AT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49" y="1781648"/>
            <a:ext cx="7946779" cy="177986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06" y="4388095"/>
            <a:ext cx="7881463" cy="109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349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went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?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r>
              <a:rPr lang="de-DE" dirty="0"/>
              <a:t>!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revealed</a:t>
            </a:r>
            <a:r>
              <a:rPr lang="de-DE" dirty="0"/>
              <a:t> </a:t>
            </a:r>
            <a:r>
              <a:rPr lang="de-DE" dirty="0" err="1"/>
              <a:t>that</a:t>
            </a:r>
            <a:br>
              <a:rPr lang="de-DE" dirty="0"/>
            </a:br>
            <a:r>
              <a:rPr lang="de-DE" dirty="0" err="1"/>
              <a:t>bodyfat</a:t>
            </a:r>
            <a:r>
              <a:rPr lang="de-DE" dirty="0"/>
              <a:t>%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overpredicted</a:t>
            </a:r>
            <a:r>
              <a:rPr lang="de-DE" dirty="0"/>
              <a:t> 11.9%-points</a:t>
            </a:r>
          </a:p>
          <a:p>
            <a:r>
              <a:rPr lang="de-DE" dirty="0"/>
              <a:t>But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almost</a:t>
            </a:r>
            <a:r>
              <a:rPr lang="de-DE" dirty="0"/>
              <a:t> ideal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The same </a:t>
            </a:r>
            <a:r>
              <a:rPr lang="de-DE" dirty="0" err="1"/>
              <a:t>formula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men</a:t>
            </a:r>
            <a:r>
              <a:rPr lang="de-DE" dirty="0"/>
              <a:t>,</a:t>
            </a:r>
            <a:br>
              <a:rPr lang="de-DE" dirty="0"/>
            </a:br>
            <a:r>
              <a:rPr lang="de-DE" dirty="0"/>
              <a:t>but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recalibrated</a:t>
            </a:r>
            <a:br>
              <a:rPr lang="de-DE" dirty="0"/>
            </a:b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903" y="1284530"/>
            <a:ext cx="5946185" cy="3944181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74" y="3035122"/>
            <a:ext cx="5996462" cy="194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02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Two-Stage Strategy in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en-US" b="1" dirty="0"/>
              <a:t>and feature selection (</a:t>
            </a:r>
            <a:r>
              <a:rPr lang="en-US" b="1" dirty="0" err="1"/>
              <a:t>projpred</a:t>
            </a:r>
            <a:r>
              <a:rPr lang="en-US" b="1" dirty="0"/>
              <a:t>)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21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700" dirty="0"/>
              <a:t>Many traditional approaches attempt to solve prediction and feature selection simultaneously.  </a:t>
            </a:r>
            <a:r>
              <a:rPr lang="en-US" sz="1700" dirty="0" err="1">
                <a:latin typeface="Bahnschrift Light" panose="020B0502040204020203" pitchFamily="34" charset="0"/>
              </a:rPr>
              <a:t>projpred</a:t>
            </a:r>
            <a:r>
              <a:rPr lang="en-US" sz="1700" dirty="0"/>
              <a:t> proposes a decision theoretic two-stage approach:</a:t>
            </a:r>
          </a:p>
          <a:p>
            <a:r>
              <a:rPr lang="en-US" sz="1700" u="sng" dirty="0"/>
              <a:t>Stage 1: Researcher builds a Reference Model </a:t>
            </a:r>
          </a:p>
          <a:p>
            <a:pPr marL="0" indent="0">
              <a:buNone/>
            </a:pPr>
            <a:r>
              <a:rPr lang="en-US" sz="1700" dirty="0"/>
              <a:t>- Fit the best possible predictive model using all relevant features  -&gt; validate this model </a:t>
            </a:r>
          </a:p>
          <a:p>
            <a:pPr marL="0" indent="0">
              <a:buNone/>
            </a:pPr>
            <a:r>
              <a:rPr lang="en-US" sz="1700" dirty="0"/>
              <a:t>- This model serves as the reference for later comparisons</a:t>
            </a:r>
          </a:p>
          <a:p>
            <a:r>
              <a:rPr lang="en-US" sz="1700" u="sng" dirty="0"/>
              <a:t>Stage 2: Algorithm finds a Minimal Subset of Features that Characterize the Predictions (Predictive Projection)</a:t>
            </a:r>
          </a:p>
          <a:p>
            <a:pPr marL="0" indent="0">
              <a:buNone/>
            </a:pPr>
            <a:r>
              <a:rPr lang="en-US" sz="1700" dirty="0"/>
              <a:t>- Select the model with the smallest predictive discrepancy to the reference  (final model)</a:t>
            </a:r>
          </a:p>
          <a:p>
            <a:pPr marL="0" indent="0">
              <a:buNone/>
            </a:pPr>
            <a:r>
              <a:rPr lang="en-US" sz="1700" dirty="0"/>
              <a:t>- For each level of complexity (number of features), finds the best-performing subset</a:t>
            </a:r>
          </a:p>
          <a:p>
            <a:r>
              <a:rPr lang="de-AT" sz="1700" u="sng" dirty="0"/>
              <a:t>Benefits </a:t>
            </a:r>
            <a:r>
              <a:rPr lang="de-AT" sz="1700" u="sng" dirty="0" err="1"/>
              <a:t>of</a:t>
            </a:r>
            <a:r>
              <a:rPr lang="de-AT" sz="1700" u="sng" dirty="0"/>
              <a:t> This </a:t>
            </a:r>
            <a:r>
              <a:rPr lang="de-AT" sz="1700" u="sng" dirty="0" err="1"/>
              <a:t>Strategy</a:t>
            </a:r>
            <a:endParaRPr lang="de-AT" sz="1700" u="sng" dirty="0"/>
          </a:p>
          <a:p>
            <a:pPr marL="0" indent="0">
              <a:buNone/>
            </a:pPr>
            <a:r>
              <a:rPr lang="de-AT" sz="1700" dirty="0"/>
              <a:t>- Separates </a:t>
            </a:r>
            <a:r>
              <a:rPr lang="de-AT" sz="1700" dirty="0" err="1"/>
              <a:t>prediction</a:t>
            </a:r>
            <a:r>
              <a:rPr lang="de-AT" sz="1700" dirty="0"/>
              <a:t> </a:t>
            </a:r>
            <a:r>
              <a:rPr lang="de-AT" sz="1700" dirty="0" err="1"/>
              <a:t>from</a:t>
            </a:r>
            <a:r>
              <a:rPr lang="de-AT" sz="1700" dirty="0"/>
              <a:t> </a:t>
            </a:r>
            <a:r>
              <a:rPr lang="de-AT" sz="1700" dirty="0" err="1"/>
              <a:t>selection</a:t>
            </a:r>
            <a:endParaRPr lang="de-AT" sz="1700" dirty="0"/>
          </a:p>
          <a:p>
            <a:pPr marL="0" indent="0">
              <a:buNone/>
            </a:pPr>
            <a:r>
              <a:rPr lang="en-US" sz="1700" dirty="0"/>
              <a:t>- Empirically strong performance: balances sparsity and predictive accuracy</a:t>
            </a:r>
          </a:p>
          <a:p>
            <a:pPr>
              <a:buFontTx/>
              <a:buChar char="-"/>
            </a:pPr>
            <a:endParaRPr lang="en-US" sz="1700" dirty="0"/>
          </a:p>
          <a:p>
            <a:pPr>
              <a:buFontTx/>
              <a:buChar char="-"/>
            </a:pPr>
            <a:endParaRPr lang="en-US" sz="1700" dirty="0"/>
          </a:p>
          <a:p>
            <a:pPr>
              <a:buFontTx/>
              <a:buChar char="-"/>
            </a:pPr>
            <a:endParaRPr lang="de-AT" sz="1700" dirty="0"/>
          </a:p>
        </p:txBody>
      </p:sp>
    </p:spTree>
    <p:extLst>
      <p:ext uri="{BB962C8B-B14F-4D97-AF65-F5344CB8AC3E}">
        <p14:creationId xmlns:p14="http://schemas.microsoft.com/office/powerpoint/2010/main" val="3530964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Predictive Projection – Motivation for Robustness Analysis: Why this approach?</a:t>
            </a:r>
            <a:r>
              <a:rPr lang="en-US" dirty="0"/>
              <a:t> 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First, it targets the statistical focus of this case study: balancing predictive power and model simplicity via feature selection. Second, </a:t>
            </a:r>
            <a:r>
              <a:rPr lang="en-US" sz="1800" b="1" dirty="0" err="1"/>
              <a:t>projpred</a:t>
            </a:r>
            <a:r>
              <a:rPr lang="en-US" sz="1800" b="1" dirty="0"/>
              <a:t> offers LOO-L1 strategy using elastic net with relaxation—closely aligned with relaxed Lasso and the original analysis. See: </a:t>
            </a:r>
            <a:r>
              <a:rPr lang="en-US" sz="1800" b="1" dirty="0" err="1"/>
              <a:t>Piironen</a:t>
            </a:r>
            <a:r>
              <a:rPr lang="en-US" sz="1800" b="1" dirty="0"/>
              <a:t> et al. (2020), </a:t>
            </a:r>
            <a:r>
              <a:rPr lang="en-US" sz="1800" b="1" i="1" dirty="0"/>
              <a:t>Projective Inference in High-Dimensional Problems</a:t>
            </a:r>
            <a:r>
              <a:rPr lang="en-US" sz="1800" b="1" dirty="0"/>
              <a:t>.</a:t>
            </a:r>
          </a:p>
          <a:p>
            <a:pPr marL="0" indent="0">
              <a:buNone/>
            </a:pPr>
            <a:r>
              <a:rPr lang="en-US" sz="1700" dirty="0"/>
              <a:t>Key Advantages: 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Clean separation of selection and validation:</a:t>
            </a:r>
            <a:r>
              <a:rPr lang="en-US" sz="1700" dirty="0"/>
              <a:t> Selection on training data only; evaluation on validation data only → Prevents selection-induced bias (automatically handled by </a:t>
            </a:r>
            <a:r>
              <a:rPr lang="en-US" sz="1700" dirty="0" err="1">
                <a:latin typeface="Bahnschrift Light" panose="020B0502040204020203" pitchFamily="34" charset="0"/>
              </a:rPr>
              <a:t>cv_varsel</a:t>
            </a:r>
            <a:r>
              <a:rPr lang="en-US" sz="1700" dirty="0">
                <a:latin typeface="Bahnschrift Light" panose="020B0502040204020203" pitchFamily="34" charset="0"/>
              </a:rPr>
              <a:t>(), </a:t>
            </a:r>
            <a:r>
              <a:rPr lang="en-US" sz="1700" dirty="0"/>
              <a:t>based on </a:t>
            </a:r>
            <a:r>
              <a:rPr lang="en-US" sz="1700" b="1" dirty="0"/>
              <a:t>relative cross-validated pointwise utilities </a:t>
            </a:r>
            <a:r>
              <a:rPr lang="en-US" sz="1700" dirty="0"/>
              <a:t>computed exclusively on validation data) → aggregated over folds, thus one mean utility for a given complexity (number of features)</a:t>
            </a:r>
            <a:endParaRPr lang="de-AT" sz="1700" dirty="0"/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Post-selection inference:</a:t>
            </a:r>
            <a:r>
              <a:rPr lang="en-US" sz="1700" dirty="0"/>
              <a:t> Accounts directly for variable selection uncertainty via the reference model →  the projected posterior for, for the final </a:t>
            </a:r>
            <a:r>
              <a:rPr lang="en-US" sz="1700" dirty="0" err="1"/>
              <a:t>submodel</a:t>
            </a:r>
            <a:r>
              <a:rPr lang="en-US" sz="1700" dirty="0"/>
              <a:t> retains uncertainty from the reference model’s posterior.</a:t>
            </a:r>
          </a:p>
        </p:txBody>
      </p:sp>
    </p:spTree>
    <p:extLst>
      <p:ext uri="{BB962C8B-B14F-4D97-AF65-F5344CB8AC3E}">
        <p14:creationId xmlns:p14="http://schemas.microsoft.com/office/powerpoint/2010/main" val="2009566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Robustness Analysis – Comparison with Original Study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b="1" dirty="0"/>
              <a:t>Consistency </a:t>
            </a:r>
            <a:r>
              <a:rPr lang="de-DE" b="1" dirty="0" err="1"/>
              <a:t>with</a:t>
            </a:r>
            <a:r>
              <a:rPr lang="de-DE" b="1" dirty="0"/>
              <a:t> Original Study:</a:t>
            </a:r>
            <a:endParaRPr lang="de-DE" dirty="0"/>
          </a:p>
          <a:p>
            <a:r>
              <a:rPr lang="de-DE" dirty="0"/>
              <a:t>Same </a:t>
            </a:r>
            <a:r>
              <a:rPr lang="de-DE" dirty="0" err="1"/>
              <a:t>key</a:t>
            </a:r>
            <a:r>
              <a:rPr lang="de-DE" dirty="0"/>
              <a:t> variables </a:t>
            </a:r>
            <a:r>
              <a:rPr lang="de-DE" dirty="0" err="1"/>
              <a:t>selected</a:t>
            </a:r>
            <a:r>
              <a:rPr lang="de-DE" dirty="0"/>
              <a:t>: </a:t>
            </a:r>
            <a:r>
              <a:rPr lang="de-DE" i="1" dirty="0"/>
              <a:t>BMI</a:t>
            </a:r>
            <a:r>
              <a:rPr lang="de-DE" dirty="0"/>
              <a:t>, </a:t>
            </a:r>
            <a:r>
              <a:rPr lang="de-DE" i="1" dirty="0" err="1"/>
              <a:t>Waist</a:t>
            </a:r>
            <a:r>
              <a:rPr lang="de-DE" dirty="0"/>
              <a:t>, </a:t>
            </a:r>
            <a:r>
              <a:rPr lang="de-DE" i="1" dirty="0" err="1"/>
              <a:t>Hips</a:t>
            </a:r>
            <a:r>
              <a:rPr lang="de-DE" dirty="0"/>
              <a:t>, </a:t>
            </a:r>
            <a:r>
              <a:rPr lang="de-DE" i="1" dirty="0" err="1"/>
              <a:t>Knee</a:t>
            </a:r>
            <a:r>
              <a:rPr lang="de-DE" dirty="0"/>
              <a:t>, </a:t>
            </a:r>
            <a:r>
              <a:rPr lang="de-DE" i="1" dirty="0" err="1"/>
              <a:t>Biceps</a:t>
            </a:r>
            <a:endParaRPr lang="de-DE" dirty="0"/>
          </a:p>
          <a:p>
            <a:r>
              <a:rPr lang="de-DE" dirty="0"/>
              <a:t>Final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coefficient</a:t>
            </a:r>
            <a:r>
              <a:rPr lang="de-DE" dirty="0"/>
              <a:t> </a:t>
            </a:r>
            <a:r>
              <a:rPr lang="de-DE" dirty="0" err="1"/>
              <a:t>estimates</a:t>
            </a:r>
            <a:r>
              <a:rPr lang="de-DE" dirty="0"/>
              <a:t> and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Bayesian</a:t>
            </a:r>
            <a:r>
              <a:rPr lang="de-DE" b="1" dirty="0"/>
              <a:t> Enhancements:</a:t>
            </a:r>
            <a:endParaRPr lang="de-DE" dirty="0"/>
          </a:p>
          <a:p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out-</a:t>
            </a:r>
            <a:r>
              <a:rPr lang="de-DE" dirty="0" err="1"/>
              <a:t>of</a:t>
            </a:r>
            <a:r>
              <a:rPr lang="de-DE" dirty="0"/>
              <a:t>-sample R² via </a:t>
            </a:r>
            <a:r>
              <a:rPr lang="de-DE" dirty="0" err="1"/>
              <a:t>posterior</a:t>
            </a:r>
            <a:r>
              <a:rPr lang="de-DE" dirty="0"/>
              <a:t> </a:t>
            </a:r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endParaRPr lang="de-DE" dirty="0"/>
          </a:p>
          <a:p>
            <a:r>
              <a:rPr lang="de-DE" dirty="0"/>
              <a:t>Also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quantification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intercept</a:t>
            </a:r>
            <a:r>
              <a:rPr lang="de-DE" dirty="0"/>
              <a:t> and </a:t>
            </a:r>
            <a:r>
              <a:rPr lang="de-DE" dirty="0" err="1"/>
              <a:t>slope</a:t>
            </a:r>
            <a:endParaRPr lang="de-DE" dirty="0"/>
          </a:p>
          <a:p>
            <a:pPr marL="0" indent="0">
              <a:buNone/>
            </a:pPr>
            <a:r>
              <a:rPr lang="de-DE" b="1" dirty="0"/>
              <a:t>Validation </a:t>
            </a:r>
            <a:r>
              <a:rPr lang="de-DE" b="1" dirty="0" err="1"/>
              <a:t>Perspective</a:t>
            </a:r>
            <a:r>
              <a:rPr lang="de-DE" b="1" dirty="0"/>
              <a:t>:</a:t>
            </a:r>
            <a:endParaRPr lang="de-DE" dirty="0"/>
          </a:p>
          <a:p>
            <a:r>
              <a:rPr lang="de-DE" dirty="0" err="1"/>
              <a:t>Concepts</a:t>
            </a:r>
            <a:r>
              <a:rPr lang="de-DE" dirty="0"/>
              <a:t> like </a:t>
            </a:r>
            <a:r>
              <a:rPr lang="de-DE" dirty="0" err="1"/>
              <a:t>optimism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and </a:t>
            </a:r>
            <a:r>
              <a:rPr lang="de-DE" dirty="0" err="1"/>
              <a:t>resampling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frequentist</a:t>
            </a:r>
            <a:r>
              <a:rPr lang="de-DE" b="1" dirty="0"/>
              <a:t> </a:t>
            </a:r>
            <a:r>
              <a:rPr lang="de-DE" b="1" dirty="0" err="1"/>
              <a:t>thinking</a:t>
            </a:r>
            <a:r>
              <a:rPr lang="de-DE" dirty="0"/>
              <a:t> (</a:t>
            </a:r>
            <a:r>
              <a:rPr lang="de-DE" dirty="0" err="1"/>
              <a:t>sampling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r>
              <a:rPr lang="de-DE" dirty="0"/>
              <a:t>)</a:t>
            </a:r>
          </a:p>
          <a:p>
            <a:r>
              <a:rPr lang="de-DE" dirty="0"/>
              <a:t>Traditional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view</a:t>
            </a:r>
            <a:r>
              <a:rPr lang="de-DE" dirty="0"/>
              <a:t> </a:t>
            </a:r>
            <a:r>
              <a:rPr lang="de-DE" dirty="0" err="1"/>
              <a:t>treats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and </a:t>
            </a:r>
            <a:r>
              <a:rPr lang="de-DE" dirty="0" err="1"/>
              <a:t>focuses</a:t>
            </a:r>
            <a:r>
              <a:rPr lang="de-DE" dirty="0"/>
              <a:t> on utilities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select</a:t>
            </a:r>
            <a:r>
              <a:rPr lang="de-DE" dirty="0"/>
              <a:t> variables. </a:t>
            </a:r>
            <a:r>
              <a:rPr lang="de-DE" b="1" dirty="0"/>
              <a:t>Modern </a:t>
            </a:r>
            <a:r>
              <a:rPr lang="de-DE" b="1" dirty="0" err="1"/>
              <a:t>Bayesian</a:t>
            </a:r>
            <a:r>
              <a:rPr lang="de-DE" b="1" dirty="0"/>
              <a:t>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de-DE" b="1" dirty="0" err="1"/>
              <a:t>culture</a:t>
            </a:r>
            <a:r>
              <a:rPr lang="de-DE" dirty="0"/>
              <a:t> </a:t>
            </a:r>
            <a:r>
              <a:rPr lang="de-DE" dirty="0" err="1"/>
              <a:t>embraces</a:t>
            </a:r>
            <a:r>
              <a:rPr lang="de-DE" dirty="0"/>
              <a:t> internal </a:t>
            </a:r>
            <a:r>
              <a:rPr lang="de-DE" dirty="0" err="1"/>
              <a:t>validation</a:t>
            </a:r>
            <a:r>
              <a:rPr lang="de-DE" dirty="0"/>
              <a:t> → 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like </a:t>
            </a:r>
            <a:r>
              <a:rPr lang="de-DE" b="1" dirty="0" err="1"/>
              <a:t>bootstrap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assess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endParaRPr lang="de-DE" dirty="0"/>
          </a:p>
          <a:p>
            <a:endParaRPr lang="en-US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671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de-DE" dirty="0"/>
              <a:t>Set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variables different (</a:t>
            </a:r>
            <a:r>
              <a:rPr lang="de-DE" dirty="0" err="1"/>
              <a:t>Biceps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 </a:t>
            </a:r>
            <a:r>
              <a:rPr lang="de-DE" dirty="0" err="1">
                <a:sym typeface="Wingdings" panose="05000000000000000000" pitchFamily="2" charset="2"/>
              </a:rPr>
              <a:t>Wrist</a:t>
            </a:r>
            <a:r>
              <a:rPr lang="de-DE" dirty="0">
                <a:sym typeface="Wingdings" panose="05000000000000000000" pitchFamily="2" charset="2"/>
              </a:rPr>
              <a:t>)</a:t>
            </a:r>
            <a:r>
              <a:rPr lang="de-DE" dirty="0"/>
              <a:t> </a:t>
            </a:r>
          </a:p>
          <a:p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at </a:t>
            </a:r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similar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overall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conclusion</a:t>
            </a:r>
            <a:endParaRPr lang="de-DE" dirty="0"/>
          </a:p>
          <a:p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said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unnoticed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see</a:t>
            </a:r>
            <a:r>
              <a:rPr lang="de-DE" dirty="0"/>
              <a:t> also Heinze et al, 2018)</a:t>
            </a:r>
          </a:p>
          <a:p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endParaRPr lang="de-DE" dirty="0"/>
          </a:p>
          <a:p>
            <a:pPr lvl="1"/>
            <a:r>
              <a:rPr lang="de-DE" dirty="0"/>
              <a:t>E.g.,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VIF&gt;80%, 1 </a:t>
            </a:r>
            <a:r>
              <a:rPr lang="de-DE" dirty="0" err="1"/>
              <a:t>with</a:t>
            </a:r>
            <a:r>
              <a:rPr lang="de-DE" dirty="0"/>
              <a:t> 50%,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&lt;25%</a:t>
            </a:r>
          </a:p>
          <a:p>
            <a:pPr lvl="1"/>
            <a:r>
              <a:rPr lang="de-DE" dirty="0"/>
              <a:t>Still, additional </a:t>
            </a:r>
            <a:r>
              <a:rPr lang="de-DE" dirty="0" err="1"/>
              <a:t>uncertainty</a:t>
            </a:r>
            <a:r>
              <a:rPr lang="de-DE" dirty="0"/>
              <a:t> in </a:t>
            </a:r>
            <a:r>
              <a:rPr lang="de-DE" dirty="0" err="1"/>
              <a:t>predictions</a:t>
            </a:r>
            <a:r>
              <a:rPr lang="de-DE" dirty="0"/>
              <a:t> (</a:t>
            </a:r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assuming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was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Bootstrap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overestimate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variability</a:t>
            </a:r>
            <a:r>
              <a:rPr lang="de-DE" dirty="0"/>
              <a:t> (</a:t>
            </a:r>
            <a:r>
              <a:rPr lang="de-DE" dirty="0" err="1"/>
              <a:t>see</a:t>
            </a:r>
            <a:r>
              <a:rPr lang="de-DE" dirty="0"/>
              <a:t> also Wallisch et al, 2021)</a:t>
            </a:r>
          </a:p>
          <a:p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‚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probability</a:t>
            </a:r>
            <a:r>
              <a:rPr lang="de-DE" dirty="0"/>
              <a:t>‘ not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in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/>
              <a:t>statistics</a:t>
            </a:r>
            <a:endParaRPr lang="de-DE" dirty="0"/>
          </a:p>
          <a:p>
            <a:pPr lvl="1"/>
            <a:r>
              <a:rPr lang="de-DE" dirty="0" err="1"/>
              <a:t>Pragmatic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quantifying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pPr lvl="1"/>
            <a:r>
              <a:rPr lang="de-DE" dirty="0"/>
              <a:t>Multi-model </a:t>
            </a:r>
            <a:r>
              <a:rPr lang="de-DE" dirty="0" err="1"/>
              <a:t>inference</a:t>
            </a:r>
            <a:r>
              <a:rPr lang="de-DE" dirty="0"/>
              <a:t> not 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/>
              <a:t>viewpoint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28973951"/>
      </p:ext>
    </p:extLst>
  </p:cSld>
  <p:clrMapOvr>
    <a:masterClrMapping/>
  </p:clrMapOvr>
</p:sld>
</file>

<file path=ppt/theme/theme1.xml><?xml version="1.0" encoding="utf-8"?>
<a:theme xmlns:a="http://schemas.openxmlformats.org/drawingml/2006/main" name="MedUni Wien">
  <a:themeElements>
    <a:clrScheme name="MedUni Wien">
      <a:dk1>
        <a:sysClr val="windowText" lastClr="000000"/>
      </a:dk1>
      <a:lt1>
        <a:sysClr val="window" lastClr="FFFFFF"/>
      </a:lt1>
      <a:dk2>
        <a:srgbClr val="757070"/>
      </a:dk2>
      <a:lt2>
        <a:srgbClr val="FDD8C9"/>
      </a:lt2>
      <a:accent1>
        <a:srgbClr val="111D4E"/>
      </a:accent1>
      <a:accent2>
        <a:srgbClr val="5FB4E5"/>
      </a:accent2>
      <a:accent3>
        <a:srgbClr val="3CBFAE"/>
      </a:accent3>
      <a:accent4>
        <a:srgbClr val="F0A794"/>
      </a:accent4>
      <a:accent5>
        <a:srgbClr val="4472C4"/>
      </a:accent5>
      <a:accent6>
        <a:srgbClr val="70AD47"/>
      </a:accent6>
      <a:hlink>
        <a:srgbClr val="111D4E"/>
      </a:hlink>
      <a:folHlink>
        <a:srgbClr val="00297A"/>
      </a:folHlink>
    </a:clrScheme>
    <a:fontScheme name="MedUni Wien">
      <a:majorFont>
        <a:latin typeface="Georgia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dUni-en-16-9.potx" id="{C4577A60-5E15-48BD-AA46-78AF9477BC68}" vid="{5C915D66-5F94-418C-82FE-3BB67FFD1A2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MedUni Wien_EN_16-9</Template>
  <TotalTime>0</TotalTime>
  <Words>2860</Words>
  <Application>Microsoft Office PowerPoint</Application>
  <PresentationFormat>Breitbild</PresentationFormat>
  <Paragraphs>320</Paragraphs>
  <Slides>24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Bahnschrift Light</vt:lpstr>
      <vt:lpstr>Calibri</vt:lpstr>
      <vt:lpstr>Cambria Math</vt:lpstr>
      <vt:lpstr>Georgia</vt:lpstr>
      <vt:lpstr>Lucida Sans</vt:lpstr>
      <vt:lpstr>Wingdings</vt:lpstr>
      <vt:lpstr>MedUni Wien</vt:lpstr>
      <vt:lpstr>The beauty of descriptive models – and bodyfat (the beast)</vt:lpstr>
      <vt:lpstr>Outline</vt:lpstr>
      <vt:lpstr>Purpose of models: To Explain or to Predict?</vt:lpstr>
      <vt:lpstr>PowerPoint-Präsentation</vt:lpstr>
      <vt:lpstr>PowerPoint-Präsentation</vt:lpstr>
      <vt:lpstr>Here are two typical tasks of descriptive modeling</vt:lpstr>
      <vt:lpstr>A new task: predicting body fat</vt:lpstr>
      <vt:lpstr>Predictor to choose from</vt:lpstr>
      <vt:lpstr>Estimands</vt:lpstr>
      <vt:lpstr>Proposed model and modeling approach</vt:lpstr>
      <vt:lpstr>Model description</vt:lpstr>
      <vt:lpstr>Data preparation</vt:lpstr>
      <vt:lpstr>Data preparation</vt:lpstr>
      <vt:lpstr>Statistical Analysis Plan</vt:lpstr>
      <vt:lpstr>Results</vt:lpstr>
      <vt:lpstr>Model diagnostics</vt:lpstr>
      <vt:lpstr>Residuals vs. excluded predictors</vt:lpstr>
      <vt:lpstr>Prediction instability plot</vt:lpstr>
      <vt:lpstr>Model validation</vt:lpstr>
      <vt:lpstr>What went wrong? Calibration plot to the rescue!</vt:lpstr>
      <vt:lpstr>Two-Stage Strategy in Prediction and feature selection (projpred) </vt:lpstr>
      <vt:lpstr>Predictive Projection – Motivation for Robustness Analysis: Why this approach?  </vt:lpstr>
      <vt:lpstr>Robustness Analysis – Comparison with Original Study </vt:lpstr>
      <vt:lpstr>Summary of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 with a blue background</dc:title>
  <dc:creator>Georg Heinze</dc:creator>
  <cp:lastModifiedBy>Mariana Nold</cp:lastModifiedBy>
  <cp:revision>86</cp:revision>
  <cp:lastPrinted>2016-07-07T12:58:37Z</cp:lastPrinted>
  <dcterms:created xsi:type="dcterms:W3CDTF">2023-01-03T08:42:16Z</dcterms:created>
  <dcterms:modified xsi:type="dcterms:W3CDTF">2025-09-05T08:59:42Z</dcterms:modified>
</cp:coreProperties>
</file>