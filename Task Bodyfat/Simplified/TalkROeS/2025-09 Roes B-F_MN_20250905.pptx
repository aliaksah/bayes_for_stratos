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16" r:id="rId2"/>
    <p:sldId id="319" r:id="rId3"/>
    <p:sldId id="323" r:id="rId4"/>
    <p:sldId id="322" r:id="rId5"/>
    <p:sldId id="321" r:id="rId6"/>
    <p:sldId id="324" r:id="rId7"/>
    <p:sldId id="325" r:id="rId8"/>
    <p:sldId id="326" r:id="rId9"/>
    <p:sldId id="327" r:id="rId10"/>
    <p:sldId id="328" r:id="rId11"/>
    <p:sldId id="329" r:id="rId12"/>
    <p:sldId id="331" r:id="rId13"/>
    <p:sldId id="330" r:id="rId14"/>
    <p:sldId id="332" r:id="rId15"/>
    <p:sldId id="333" r:id="rId16"/>
    <p:sldId id="335" r:id="rId17"/>
    <p:sldId id="336" r:id="rId18"/>
    <p:sldId id="334" r:id="rId19"/>
    <p:sldId id="337" r:id="rId20"/>
    <p:sldId id="338" r:id="rId21"/>
    <p:sldId id="341" r:id="rId22"/>
    <p:sldId id="343" r:id="rId23"/>
    <p:sldId id="342" r:id="rId24"/>
    <p:sldId id="340" r:id="rId25"/>
  </p:sldIdLst>
  <p:sldSz cx="12192000" cy="6858000"/>
  <p:notesSz cx="6669088" cy="987266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arina Dengg" initials="KD" lastIdx="1" clrIdx="0">
    <p:extLst/>
  </p:cmAuthor>
  <p:cmAuthor id="2" name="Mariana Nold" initials="MN" lastIdx="6" clrIdx="1">
    <p:extLst>
      <p:ext uri="{19B8F6BF-5375-455C-9EA6-DF929625EA0E}">
        <p15:presenceInfo xmlns:p15="http://schemas.microsoft.com/office/powerpoint/2012/main" userId="S-1-5-21-866499592-3592028529-3545064460-958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6347" autoAdjust="0"/>
  </p:normalViewPr>
  <p:slideViewPr>
    <p:cSldViewPr snapToGrid="0" showGuides="1">
      <p:cViewPr varScale="1">
        <p:scale>
          <a:sx n="68" d="100"/>
          <a:sy n="68" d="100"/>
        </p:scale>
        <p:origin x="580" y="52"/>
      </p:cViewPr>
      <p:guideLst>
        <p:guide orient="horz" pos="346"/>
        <p:guide pos="3840"/>
      </p:guideLst>
    </p:cSldViewPr>
  </p:slideViewPr>
  <p:outlineViewPr>
    <p:cViewPr>
      <p:scale>
        <a:sx n="33" d="100"/>
        <a:sy n="33" d="100"/>
      </p:scale>
      <p:origin x="0" y="-303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8-21T09:10:51.645" idx="1">
    <p:pos x="5091" y="1779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8-21T09:15:03.998" idx="2">
    <p:pos x="5274" y="2832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8-21T09:17:05.822" idx="3">
    <p:pos x="2256" y="240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8-21T09:19:25.833" idx="4">
    <p:pos x="1170" y="1398"/>
    <p:text>Ich glaube es ist (0,100) also die Ränder können nicht vorkommen, oder?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8-21T09:34:54.586" idx="5">
    <p:pos x="10" y="10"/>
    <p:text>Vielleicht könntest du die Formel die rauskommt angeben, als ein zentrales Ergebnis, dass man dann gut mit meinem Ergebnis vergleichen kann?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8-21T09:48:51.484" idx="6">
    <p:pos x="4146" y="870"/>
    <p:text>das haben wir beide nicht, wir haben die gleichen Prädiktoren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0E05E-0E5F-4619-840B-04816CDCE1FF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889938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7" y="9377317"/>
            <a:ext cx="2889938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16DE8-E1E4-4AF2-9B02-7E3CC699773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2421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4AB0C-E262-4C0E-AFB9-E3AC8707D9BE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73063" y="1233488"/>
            <a:ext cx="5922962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51219"/>
            <a:ext cx="533527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889938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7" y="9377317"/>
            <a:ext cx="2889938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DFF36-2726-40AA-99D6-4D73C8508E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66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400" dirty="0">
                <a:solidFill>
                  <a:srgbClr val="FF0000"/>
                </a:solidFill>
              </a:rPr>
              <a:t>Hier in der Reinform – gibt es nicht </a:t>
            </a:r>
            <a:r>
              <a:rPr lang="de-AT" sz="1400" baseline="0" dirty="0">
                <a:solidFill>
                  <a:srgbClr val="FF0000"/>
                </a:solidFill>
              </a:rPr>
              <a:t> </a:t>
            </a:r>
            <a:r>
              <a:rPr lang="de-AT" sz="1400" dirty="0">
                <a:solidFill>
                  <a:srgbClr val="FF0000"/>
                </a:solidFill>
              </a:rPr>
              <a:t>wirklich in Praxis.</a:t>
            </a:r>
          </a:p>
          <a:p>
            <a:endParaRPr lang="de-AT" sz="1400" dirty="0">
              <a:solidFill>
                <a:srgbClr val="FF0000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WRONG: High explanatory power </a:t>
            </a:r>
            <a:r>
              <a:rPr lang="en-US" sz="1400" dirty="0">
                <a:sym typeface="Wingdings" panose="05000000000000000000" pitchFamily="2" charset="2"/>
              </a:rPr>
              <a:t> high predictive power.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ym typeface="Wingdings" panose="05000000000000000000" pitchFamily="2" charset="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 err="1"/>
              <a:t>prognostic</a:t>
            </a:r>
            <a:r>
              <a:rPr lang="de-AT" dirty="0"/>
              <a:t> </a:t>
            </a:r>
            <a:r>
              <a:rPr lang="de-AT" dirty="0" err="1"/>
              <a:t>models</a:t>
            </a:r>
            <a:r>
              <a:rPr lang="de-AT" dirty="0"/>
              <a:t>: </a:t>
            </a:r>
            <a:r>
              <a:rPr lang="de-AT" dirty="0" err="1"/>
              <a:t>predict</a:t>
            </a:r>
            <a:r>
              <a:rPr lang="de-AT" dirty="0"/>
              <a:t> </a:t>
            </a:r>
            <a:r>
              <a:rPr lang="de-AT" dirty="0" err="1"/>
              <a:t>future</a:t>
            </a:r>
            <a:r>
              <a:rPr lang="de-AT" dirty="0"/>
              <a:t> </a:t>
            </a:r>
            <a:r>
              <a:rPr lang="de-AT" dirty="0" err="1"/>
              <a:t>outcomes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diseases</a:t>
            </a:r>
            <a:r>
              <a:rPr lang="de-AT" dirty="0"/>
              <a:t> </a:t>
            </a:r>
            <a:r>
              <a:rPr lang="de-AT" dirty="0" err="1"/>
              <a:t>and</a:t>
            </a:r>
            <a:r>
              <a:rPr lang="de-AT" dirty="0"/>
              <a:t>/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treatments</a:t>
            </a:r>
            <a:r>
              <a:rPr lang="de-AT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 err="1"/>
              <a:t>predictive</a:t>
            </a:r>
            <a:r>
              <a:rPr lang="de-AT" dirty="0"/>
              <a:t> </a:t>
            </a:r>
            <a:r>
              <a:rPr lang="de-AT" dirty="0" err="1"/>
              <a:t>models</a:t>
            </a:r>
            <a:r>
              <a:rPr lang="de-AT" dirty="0"/>
              <a:t>: </a:t>
            </a:r>
            <a:r>
              <a:rPr lang="en-CA" dirty="0"/>
              <a:t>identification of patients at high risk for certain.</a:t>
            </a:r>
            <a:endParaRPr lang="de-AT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/>
          </a:p>
          <a:p>
            <a:endParaRPr lang="en-CA" sz="1400" dirty="0">
              <a:solidFill>
                <a:srgbClr val="FF0000"/>
              </a:solidFill>
            </a:endParaRPr>
          </a:p>
          <a:p>
            <a:endParaRPr lang="en-US" sz="1400" b="1" i="1" noProof="0" dirty="0"/>
          </a:p>
          <a:p>
            <a:r>
              <a:rPr lang="en-US" sz="1400" b="1" i="1" noProof="0" dirty="0"/>
              <a:t>Types and purposes of statistical models I</a:t>
            </a:r>
          </a:p>
          <a:p>
            <a:endParaRPr lang="en-US" b="1" noProof="0" dirty="0"/>
          </a:p>
          <a:p>
            <a:r>
              <a:rPr lang="en-US" b="1" noProof="0" dirty="0"/>
              <a:t>Explanatory modeling/models: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/>
              <a:t>Theory</a:t>
            </a:r>
            <a:r>
              <a:rPr lang="en-US" b="0" baseline="0" noProof="0" dirty="0"/>
              <a:t> itself provides the justification for the causality. Therefore, in social sciences often use of observational data for this purpose (association-based statistical models).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Strong theory, reliance on data and statistical modeling through the lens of the theoretical model.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Focus on theoretical constructs than on measurable variables. Use of causal diagrams illustrating relationship between these constructs.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Statistical inference: effects sizes and statistical significance in relation to the causal hypotheses.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AT" sz="1200" dirty="0" err="1"/>
              <a:t>Causality</a:t>
            </a:r>
            <a:r>
              <a:rPr lang="de-AT" sz="1200" dirty="0"/>
              <a:t> </a:t>
            </a:r>
            <a:r>
              <a:rPr lang="de-AT" sz="1200" dirty="0" err="1"/>
              <a:t>is</a:t>
            </a:r>
            <a:r>
              <a:rPr lang="de-AT" sz="1200" dirty="0"/>
              <a:t> </a:t>
            </a:r>
            <a:r>
              <a:rPr lang="de-AT" sz="1200" dirty="0" err="1"/>
              <a:t>of</a:t>
            </a:r>
            <a:r>
              <a:rPr lang="de-AT" sz="1200" dirty="0"/>
              <a:t> </a:t>
            </a:r>
            <a:r>
              <a:rPr lang="de-AT" sz="1200" dirty="0" err="1"/>
              <a:t>main</a:t>
            </a:r>
            <a:r>
              <a:rPr lang="de-AT" sz="1200" dirty="0"/>
              <a:t> </a:t>
            </a:r>
            <a:r>
              <a:rPr lang="de-AT" sz="1200" dirty="0" err="1"/>
              <a:t>concern</a:t>
            </a:r>
            <a:r>
              <a:rPr lang="de-AT" sz="1200" dirty="0"/>
              <a:t>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AT" sz="1200" dirty="0"/>
              <a:t>Test </a:t>
            </a:r>
            <a:r>
              <a:rPr lang="de-AT" sz="1200" dirty="0" err="1"/>
              <a:t>hypotheses</a:t>
            </a:r>
            <a:r>
              <a:rPr lang="de-AT" sz="1200" dirty="0"/>
              <a:t> </a:t>
            </a:r>
            <a:r>
              <a:rPr lang="de-AT" sz="1200" dirty="0" err="1"/>
              <a:t>about</a:t>
            </a:r>
            <a:r>
              <a:rPr lang="de-AT" sz="1200" dirty="0"/>
              <a:t> </a:t>
            </a:r>
            <a:r>
              <a:rPr lang="de-AT" sz="1200" dirty="0" err="1"/>
              <a:t>effect</a:t>
            </a:r>
            <a:r>
              <a:rPr lang="de-AT" sz="1200" dirty="0"/>
              <a:t> </a:t>
            </a:r>
            <a:r>
              <a:rPr lang="de-AT" sz="1200" dirty="0" err="1"/>
              <a:t>sizes</a:t>
            </a:r>
            <a:r>
              <a:rPr lang="de-AT" sz="1200" dirty="0"/>
              <a:t>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1" noProof="0" dirty="0"/>
              <a:t>Explanatory models refer to the application of statistical models to data for testing causal hypotheses about theoretical</a:t>
            </a:r>
            <a:r>
              <a:rPr lang="en-US" b="0" i="1" baseline="0" noProof="0" dirty="0"/>
              <a:t> constructs.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baseline="0" noProof="0" dirty="0"/>
              <a:t>Goal: in-sample explanatory power</a:t>
            </a:r>
            <a:endParaRPr lang="en-US" b="0" i="0" noProof="0" dirty="0"/>
          </a:p>
          <a:p>
            <a:endParaRPr lang="en-US" b="1" noProof="0" dirty="0"/>
          </a:p>
          <a:p>
            <a:r>
              <a:rPr lang="en-US" b="1" noProof="0" dirty="0"/>
              <a:t>Predictive modeling/models: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Goal is to predict new/future observations; for a new observation predict the output Y given their input variable 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This includes point and interval prediction, prediction regions, predictive distributions or rankings of new observations.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No direct interpretability is (strictly speaking) required (but often desirable). </a:t>
            </a:r>
            <a:r>
              <a:rPr lang="en-US" b="0" baseline="0" noProof="0" dirty="0">
                <a:sym typeface="Wingdings" panose="05000000000000000000" pitchFamily="2" charset="2"/>
              </a:rPr>
              <a:t> </a:t>
            </a:r>
            <a:r>
              <a:rPr lang="en-US" b="0" baseline="0" noProof="0" dirty="0"/>
              <a:t>association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(Can be used as a ‚reality check‘ to the relevance of theories, as a predictive model either predicts accurately or not. Explanatory models can never be confirmed and are harder to contradict.)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baseline="0" noProof="0" dirty="0"/>
              <a:t>Goal: Out-of-sample predictive accuracy</a:t>
            </a:r>
            <a:endParaRPr lang="en-US" b="0" i="0" noProof="0" dirty="0"/>
          </a:p>
          <a:p>
            <a:r>
              <a:rPr lang="en-US" b="1" noProof="0" dirty="0"/>
              <a:t> </a:t>
            </a:r>
          </a:p>
          <a:p>
            <a:r>
              <a:rPr lang="en-US" b="1" noProof="0" dirty="0"/>
              <a:t>Descriptive modeling/models: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Goal is to summarize the data structure parsimoniously.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No or weak reliance of theory with a focus on the measurable level rather than at the construct level. No focus on prediction.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noProof="0" dirty="0"/>
              <a:t>Goal: covariates with strong influence on the outcome, functional form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noProof="0" dirty="0"/>
              <a:t>Etiological models in medicine ? (only some theory)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baseline="0" noProof="0" dirty="0"/>
          </a:p>
          <a:p>
            <a:endParaRPr lang="en-US" b="0" baseline="0" noProof="0" dirty="0"/>
          </a:p>
          <a:p>
            <a:r>
              <a:rPr lang="en-US" b="0" baseline="0" noProof="0" dirty="0"/>
              <a:t>Important: </a:t>
            </a:r>
            <a:r>
              <a:rPr lang="en-US" sz="1200" b="0" i="0" u="none" strike="noStrike" kern="1200" baseline="0" noProof="0" dirty="0">
                <a:solidFill>
                  <a:schemeClr val="tx1"/>
                </a:solidFill>
              </a:rPr>
              <a:t>Models with high explanatory power do not have automatically high predictive power. </a:t>
            </a:r>
            <a:r>
              <a:rPr lang="en-US" sz="1200" b="0" i="0" u="none" strike="noStrike" kern="1200" baseline="0" noProof="0" dirty="0">
                <a:solidFill>
                  <a:schemeClr val="tx1"/>
                </a:solidFill>
                <a:sym typeface="Wingdings" panose="05000000000000000000" pitchFamily="2" charset="2"/>
              </a:rPr>
              <a:t> Therefore, statistical modeling (from study design on) should be influenced on the type of statistical model required.</a:t>
            </a:r>
            <a:endParaRPr lang="en-US" b="0" baseline="0" noProof="0" dirty="0"/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Why is there a difference between explaining and predicting?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/>
              <a:t>Different type</a:t>
            </a:r>
            <a:r>
              <a:rPr lang="en-US" b="0" baseline="0" noProof="0" dirty="0"/>
              <a:t> of uncertainty.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Because measureable data are not accurate representations of their underlying constructs.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baseline="0" noProof="0" dirty="0"/>
              <a:t>Theory: construct </a:t>
            </a:r>
            <a:r>
              <a:rPr lang="en-US" b="0" i="1" baseline="0" noProof="0" dirty="0"/>
              <a:t>X</a:t>
            </a:r>
            <a:r>
              <a:rPr lang="en-US" b="0" baseline="0" noProof="0" dirty="0"/>
              <a:t> causes construct </a:t>
            </a:r>
            <a:r>
              <a:rPr lang="en-US" b="0" i="1" baseline="0" noProof="0" dirty="0"/>
              <a:t>Y</a:t>
            </a:r>
            <a:r>
              <a:rPr lang="en-US" b="0" baseline="0" noProof="0" dirty="0"/>
              <a:t> via the function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, </a:t>
            </a:r>
            <a:r>
              <a:rPr lang="en-US" b="0" i="1" baseline="0" noProof="0" dirty="0"/>
              <a:t>Y=F(X)</a:t>
            </a:r>
            <a:r>
              <a:rPr lang="en-US" b="0" baseline="0" noProof="0" dirty="0"/>
              <a:t>. Measureable variables are </a:t>
            </a:r>
            <a:r>
              <a:rPr lang="en-US" b="1" baseline="0" noProof="0" dirty="0"/>
              <a:t>X</a:t>
            </a:r>
            <a:r>
              <a:rPr lang="en-US" b="0" baseline="0" noProof="0" dirty="0"/>
              <a:t> and Y (=</a:t>
            </a:r>
            <a:r>
              <a:rPr lang="en-US" b="0" baseline="0" noProof="0" dirty="0" err="1"/>
              <a:t>operationalisations</a:t>
            </a:r>
            <a:r>
              <a:rPr lang="en-US" b="0" baseline="0" noProof="0" dirty="0"/>
              <a:t> of </a:t>
            </a:r>
            <a:r>
              <a:rPr lang="en-US" b="0" i="1" baseline="0" noProof="0" dirty="0"/>
              <a:t>X</a:t>
            </a:r>
            <a:r>
              <a:rPr lang="en-US" b="0" baseline="0" noProof="0" dirty="0"/>
              <a:t> and </a:t>
            </a:r>
            <a:r>
              <a:rPr lang="en-US" b="0" i="1" baseline="0" noProof="0" dirty="0"/>
              <a:t>Y</a:t>
            </a:r>
            <a:r>
              <a:rPr lang="en-US" b="0" baseline="0" noProof="0" dirty="0"/>
              <a:t>). </a:t>
            </a:r>
            <a:r>
              <a:rPr lang="en-US" b="0" baseline="0" noProof="0" dirty="0">
                <a:sym typeface="Wingdings" panose="05000000000000000000" pitchFamily="2" charset="2"/>
              </a:rPr>
              <a:t> </a:t>
            </a:r>
            <a:r>
              <a:rPr lang="en-US" b="0" baseline="0" noProof="0" dirty="0"/>
              <a:t>Statistical modeling: </a:t>
            </a:r>
            <a:r>
              <a:rPr lang="en-US" b="0" i="1" baseline="0" noProof="0" dirty="0"/>
              <a:t>E(Y)</a:t>
            </a:r>
            <a:r>
              <a:rPr lang="en-US" b="0" baseline="0" noProof="0" dirty="0"/>
              <a:t>=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(</a:t>
            </a:r>
            <a:r>
              <a:rPr lang="en-US" b="1" baseline="0" noProof="0" dirty="0"/>
              <a:t>X</a:t>
            </a:r>
            <a:r>
              <a:rPr lang="en-US" b="0" baseline="0" noProof="0" dirty="0"/>
              <a:t>), where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 is the statistical model. Usually not a single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.</a:t>
            </a:r>
            <a:br>
              <a:rPr lang="en-US" b="0" baseline="0" noProof="0" dirty="0"/>
            </a:br>
            <a:r>
              <a:rPr lang="en-US" b="0" baseline="0" noProof="0" dirty="0"/>
              <a:t>Explanatory models: match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 and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 as closely as possible for the statistical inference to apply to the theoretical hypotheses.</a:t>
            </a:r>
            <a:br>
              <a:rPr lang="en-US" b="0" baseline="0" noProof="0" dirty="0"/>
            </a:br>
            <a:r>
              <a:rPr lang="en-US" b="0" baseline="0" noProof="0" dirty="0"/>
              <a:t>Predictive models: </a:t>
            </a:r>
            <a:r>
              <a:rPr lang="en-US" b="1" baseline="0" noProof="0" dirty="0"/>
              <a:t>X</a:t>
            </a:r>
            <a:r>
              <a:rPr lang="en-US" b="0" baseline="0" noProof="0" dirty="0"/>
              <a:t> and Y are of interest. Function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 is used as a tool for generating good predictions of new Y values.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/>
              <a:t>Even is the underlying causal relationship is indeed </a:t>
            </a:r>
            <a:r>
              <a:rPr lang="en-US" b="0" i="1" noProof="0" dirty="0"/>
              <a:t>Y=F(X)</a:t>
            </a:r>
            <a:r>
              <a:rPr lang="en-US" b="0" noProof="0" dirty="0"/>
              <a:t>, a function other than </a:t>
            </a:r>
            <a:r>
              <a:rPr lang="en-US" b="0" i="1" noProof="0" dirty="0" err="1"/>
              <a:t>f</a:t>
            </a:r>
            <a:r>
              <a:rPr lang="en-US" b="0" noProof="0" dirty="0" err="1"/>
              <a:t>_hat</a:t>
            </a:r>
            <a:r>
              <a:rPr lang="en-US" b="0" noProof="0" dirty="0"/>
              <a:t>(</a:t>
            </a:r>
            <a:r>
              <a:rPr lang="en-US" b="1" noProof="0" dirty="0"/>
              <a:t>X</a:t>
            </a:r>
            <a:r>
              <a:rPr lang="en-US" b="0" noProof="0" dirty="0"/>
              <a:t>) and data other</a:t>
            </a:r>
            <a:r>
              <a:rPr lang="en-US" b="0" baseline="0" noProof="0" dirty="0"/>
              <a:t> than </a:t>
            </a:r>
            <a:r>
              <a:rPr lang="en-US" b="1" baseline="0" noProof="0" dirty="0"/>
              <a:t>X</a:t>
            </a:r>
            <a:r>
              <a:rPr lang="en-US" b="0" baseline="0" noProof="0" dirty="0"/>
              <a:t> might by preferable for prediction. </a:t>
            </a:r>
            <a:r>
              <a:rPr lang="en-US" b="0" baseline="0" noProof="0" dirty="0">
                <a:sym typeface="Wingdings" panose="05000000000000000000" pitchFamily="2" charset="2"/>
              </a:rPr>
              <a:t> The wrong model can sometimes predict better than the correct 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/>
              <a:t>Bias-variance:</a:t>
            </a:r>
            <a:r>
              <a:rPr lang="en-US" b="0" baseline="0" noProof="0" dirty="0"/>
              <a:t> expected prediction error for a new observation using a quadratic loss function (Hastie, </a:t>
            </a:r>
            <a:r>
              <a:rPr lang="en-US" b="0" baseline="0" noProof="0" dirty="0" err="1"/>
              <a:t>Tibshirani</a:t>
            </a:r>
            <a:r>
              <a:rPr lang="en-US" b="0" baseline="0" noProof="0" dirty="0"/>
              <a:t>, Friedman, 2009, p. 223): EPE = </a:t>
            </a:r>
            <a:r>
              <a:rPr lang="en-US" b="0" baseline="0" noProof="0" dirty="0" err="1"/>
              <a:t>Var</a:t>
            </a:r>
            <a:r>
              <a:rPr lang="en-US" b="0" baseline="0" noProof="0" dirty="0"/>
              <a:t>(</a:t>
            </a:r>
            <a:r>
              <a:rPr lang="en-US" b="0" i="1" baseline="0" noProof="0" dirty="0"/>
              <a:t>Y</a:t>
            </a:r>
            <a:r>
              <a:rPr lang="en-US" b="0" baseline="0" noProof="0" dirty="0"/>
              <a:t>) + Bias^2 + </a:t>
            </a:r>
            <a:r>
              <a:rPr lang="en-US" b="0" baseline="0" noProof="0" dirty="0" err="1"/>
              <a:t>Var</a:t>
            </a:r>
            <a:r>
              <a:rPr lang="en-US" b="0" baseline="0" noProof="0" dirty="0"/>
              <a:t>(</a:t>
            </a:r>
            <a:r>
              <a:rPr lang="en-US" b="0" i="1" baseline="0" noProof="0" dirty="0" err="1"/>
              <a:t>f</a:t>
            </a:r>
            <a:r>
              <a:rPr lang="en-US" b="0" baseline="0" noProof="0" dirty="0" err="1"/>
              <a:t>_hat</a:t>
            </a:r>
            <a:r>
              <a:rPr lang="en-US" b="0" baseline="0" noProof="0" dirty="0"/>
              <a:t>(</a:t>
            </a:r>
            <a:r>
              <a:rPr lang="en-US" b="0" i="1" baseline="0" noProof="0" dirty="0"/>
              <a:t>x</a:t>
            </a:r>
            <a:r>
              <a:rPr lang="en-US" b="0" baseline="0" noProof="0" dirty="0"/>
              <a:t>))</a:t>
            </a:r>
            <a:br>
              <a:rPr lang="en-US" b="0" baseline="0" noProof="0" dirty="0"/>
            </a:br>
            <a:r>
              <a:rPr lang="en-US" b="0" baseline="0" noProof="0" dirty="0"/>
              <a:t>Explanatory model: minimize bias to obtain the most accurate representation of the underlying theory.</a:t>
            </a:r>
            <a:br>
              <a:rPr lang="en-US" b="0" baseline="0" noProof="0" dirty="0"/>
            </a:br>
            <a:r>
              <a:rPr lang="en-US" b="0" baseline="0" noProof="0" dirty="0"/>
              <a:t>Predictive model: minimize bias and estimation variance</a:t>
            </a:r>
            <a:endParaRPr lang="en-US" b="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 err="1"/>
              <a:t>Konishi</a:t>
            </a:r>
            <a:r>
              <a:rPr lang="en-US" b="0" baseline="0" noProof="0" dirty="0"/>
              <a:t> and Kitagawa (2007): no significant difference between explanatory and predictive models if infinite large sample without noise is available.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baseline="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n-US" b="0" baseline="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baseline="0" noProof="0" dirty="0"/>
              <a:t>Bias – Variance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baseline="0" noProof="0" dirty="0"/>
              <a:t>Expected prediction error for a new observation with value </a:t>
            </a:r>
            <a:r>
              <a:rPr lang="en-US" b="0" i="1" baseline="0" noProof="0" dirty="0"/>
              <a:t>x</a:t>
            </a:r>
            <a:r>
              <a:rPr lang="en-US" b="0" baseline="0" noProof="0" dirty="0"/>
              <a:t>, using a quadratic loss function (</a:t>
            </a:r>
            <a:r>
              <a:rPr lang="en-US" noProof="0" dirty="0"/>
              <a:t>Hastie, </a:t>
            </a:r>
            <a:r>
              <a:rPr lang="en-US" noProof="0" dirty="0" err="1"/>
              <a:t>Tibshirani</a:t>
            </a:r>
            <a:r>
              <a:rPr lang="en-US" noProof="0" dirty="0"/>
              <a:t>, Friedman, 2009, p. 223).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baseline="0" noProof="0" dirty="0" err="1"/>
              <a:t>Var</a:t>
            </a:r>
            <a:r>
              <a:rPr lang="en-US" b="0" baseline="0" noProof="0" dirty="0"/>
              <a:t>(Y) = error even if the model is correctly specified and accurately estimated.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baseline="0" noProof="0" dirty="0"/>
              <a:t>Bias = misspecification of the statistical model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baseline="0" noProof="0" dirty="0" err="1"/>
              <a:t>Var</a:t>
            </a:r>
            <a:r>
              <a:rPr lang="en-US" b="0" baseline="0" noProof="0" dirty="0"/>
              <a:t>(f\hat(x)) = results from using a sample to estimate </a:t>
            </a:r>
            <a:r>
              <a:rPr lang="en-US" b="0" i="1" baseline="0" noProof="0" dirty="0"/>
              <a:t>f</a:t>
            </a:r>
            <a:r>
              <a:rPr lang="en-US" b="0" baseline="0" noProof="0" dirty="0"/>
              <a:t>. (estimation variance)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baseline="0" noProof="0" dirty="0"/>
              <a:t>Explanatory models: focus on minimizing the Bias^2 to obtain the most accurate representation of the underlying theory.</a:t>
            </a:r>
            <a:br>
              <a:rPr lang="en-US" b="0" baseline="0" noProof="0" dirty="0"/>
            </a:br>
            <a:r>
              <a:rPr lang="en-US" b="0" baseline="0" noProof="0" dirty="0"/>
              <a:t>Predictive models: minimize Bias^2 and estimation variance. Okay to sacrifice theoretical accuracy for improved precision.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baseline="0" noProof="0" dirty="0"/>
              <a:t>Infinite sample and no measurement errors= explanatory model and predictive model the same </a:t>
            </a:r>
            <a:r>
              <a:rPr lang="en-US" b="0" i="1" baseline="0" noProof="0" dirty="0"/>
              <a:t>(? </a:t>
            </a:r>
            <a:r>
              <a:rPr lang="en-US" b="0" i="1" baseline="0" noProof="0" dirty="0" err="1"/>
              <a:t>Schlußfolgerung</a:t>
            </a:r>
            <a:r>
              <a:rPr lang="en-US" b="0" i="1" baseline="0" noProof="0" dirty="0"/>
              <a:t> Daniela)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baseline="0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-------------------------------------------------------</a:t>
            </a:r>
          </a:p>
          <a:p>
            <a:r>
              <a:rPr lang="en-US" noProof="0" dirty="0"/>
              <a:t>LITERATURE:</a:t>
            </a:r>
          </a:p>
          <a:p>
            <a:endParaRPr lang="en-US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 err="1"/>
              <a:t>Shumeli</a:t>
            </a:r>
            <a:r>
              <a:rPr lang="en-US" noProof="0" dirty="0"/>
              <a:t> 2010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 err="1"/>
              <a:t>Tripepi</a:t>
            </a:r>
            <a:r>
              <a:rPr lang="en-US" noProof="0" dirty="0"/>
              <a:t> 2008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Harrell</a:t>
            </a:r>
            <a:r>
              <a:rPr lang="en-US" baseline="0" noProof="0" dirty="0"/>
              <a:t> 2001 book, chapter 1</a:t>
            </a:r>
          </a:p>
          <a:p>
            <a:endParaRPr lang="en-US" noProof="0" dirty="0"/>
          </a:p>
          <a:p>
            <a:r>
              <a:rPr lang="en-US" noProof="0" dirty="0"/>
              <a:t>-------------------------------------------------------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E3C9B3-19AC-4CA5-BEE2-56149DF2B9CE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01934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robustness analysis yields results </a:t>
            </a:r>
            <a:r>
              <a:rPr lang="en-US" b="1" dirty="0"/>
              <a:t>consistent with the original study e. g. s</a:t>
            </a:r>
            <a:r>
              <a:rPr lang="en-US" dirty="0"/>
              <a:t>ame variables selected: "BMI"    "Waist"  "Hips"   "Knee"   "Biceps“, final regression model has similar regression coefficients estimates and uncertainty intervals</a:t>
            </a:r>
          </a:p>
          <a:p>
            <a:r>
              <a:rPr lang="en-US" dirty="0"/>
              <a:t>Some differences e. g. In </a:t>
            </a:r>
            <a:r>
              <a:rPr lang="en-US" b="1" dirty="0"/>
              <a:t>Bayesian inference</a:t>
            </a:r>
            <a:r>
              <a:rPr lang="en-US" dirty="0"/>
              <a:t>, I can report an </a:t>
            </a:r>
            <a:r>
              <a:rPr lang="en-US" b="1" dirty="0"/>
              <a:t>uncertainty interval</a:t>
            </a:r>
            <a:r>
              <a:rPr lang="en-US" dirty="0"/>
              <a:t> for the </a:t>
            </a:r>
            <a:r>
              <a:rPr lang="en-US" b="1" dirty="0"/>
              <a:t>out-of-sample R²</a:t>
            </a:r>
            <a:r>
              <a:rPr lang="en-US" dirty="0"/>
              <a:t>, based on the posterior predictive distribution </a:t>
            </a:r>
            <a:r>
              <a:rPr lang="en-US" b="1" dirty="0"/>
              <a:t>or uncertainty intervals for calibration intercepts and calibrations slope </a:t>
            </a:r>
            <a:r>
              <a:rPr lang="en-US" dirty="0"/>
              <a:t>based on corresponding posterior distributions.</a:t>
            </a:r>
          </a:p>
          <a:p>
            <a:r>
              <a:rPr lang="en-US" dirty="0"/>
              <a:t>Concepts like optimism correction and resampling-based validation fit more naturally into the frequentist framework of sampling distributions than into traditional Bayesian thinking, which treats the data as fixed and focuses on posterior </a:t>
            </a:r>
            <a:r>
              <a:rPr lang="en-US" dirty="0" err="1"/>
              <a:t>summaries.However</a:t>
            </a:r>
            <a:r>
              <a:rPr lang="en-US" dirty="0"/>
              <a:t>, the modern Bayesian prediction culture increasingly embraces internal validation as a meaningful tool for assessing generalization and can be combined with e. g. bootstrap.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DFF36-2726-40AA-99D6-4D73C8508E66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343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Center for Medical Data Science – Institute of Clinical Biometrics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Georg Heinze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hteck 8"/>
          <p:cNvSpPr/>
          <p:nvPr userDrawn="1"/>
        </p:nvSpPr>
        <p:spPr>
          <a:xfrm>
            <a:off x="0" y="1"/>
            <a:ext cx="12192000" cy="63087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718782" y="1345093"/>
            <a:ext cx="10633431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/>
          </p:nvPr>
        </p:nvSpPr>
        <p:spPr>
          <a:xfrm>
            <a:off x="718782" y="3824768"/>
            <a:ext cx="10633431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GB" noProof="0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9" t="37454" r="166" b="2507"/>
          <a:stretch/>
        </p:blipFill>
        <p:spPr bwMode="auto">
          <a:xfrm>
            <a:off x="407159" y="6380020"/>
            <a:ext cx="1737484" cy="395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1354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6372383" y="6365632"/>
            <a:ext cx="4850224" cy="2262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GB"/>
              <a:t>Georg Heinze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3"/>
          </p:nvPr>
        </p:nvSpPr>
        <p:spPr>
          <a:xfrm>
            <a:off x="804333" y="1341437"/>
            <a:ext cx="10549467" cy="4967288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326766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B6C09D1-9D44-46E9-90D5-584F6311654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>
          <a:xfrm>
            <a:off x="718782" y="1345093"/>
            <a:ext cx="10633431" cy="2387600"/>
          </a:xfrm>
        </p:spPr>
        <p:txBody>
          <a:bodyPr anchor="b"/>
          <a:lstStyle>
            <a:lvl1pPr algn="l"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718782" y="3824768"/>
            <a:ext cx="10633431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86775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Sub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2000"/>
          </a:xfrm>
        </p:spPr>
        <p:txBody>
          <a:bodyPr tIns="72000" bIns="0"/>
          <a:lstStyle/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14539"/>
            <a:ext cx="10515600" cy="4162425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838200" y="1341439"/>
            <a:ext cx="10515600" cy="630237"/>
          </a:xfrm>
        </p:spPr>
        <p:txBody>
          <a:bodyPr lIns="0" tIns="0" rIns="0" bIns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72383" y="6528895"/>
            <a:ext cx="4850224" cy="2333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Center for Medical Data Science – Institute of Clinical Biometrics</a:t>
            </a:r>
            <a:endParaRPr lang="de-DE" dirty="0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372383" y="6351777"/>
            <a:ext cx="4850224" cy="2262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Georg Heinze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66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800" y="365125"/>
            <a:ext cx="10515600" cy="972000"/>
          </a:xfrm>
        </p:spPr>
        <p:txBody>
          <a:bodyPr/>
          <a:lstStyle/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838800" y="5697788"/>
            <a:ext cx="10549467" cy="56542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noProof="0" dirty="0" err="1"/>
              <a:t>Bildunterschrift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838800" y="1425684"/>
            <a:ext cx="10566400" cy="4272104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6372383" y="6528895"/>
            <a:ext cx="4850224" cy="2333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Center for Medical Data Science – Institute of Clinical Biometrics</a:t>
            </a:r>
            <a:endParaRPr lang="de-DE" dirty="0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372383" y="6351777"/>
            <a:ext cx="4850224" cy="2262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Georg Heinze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99286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und Inhalt - schwarz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341439"/>
            <a:ext cx="5181600" cy="4835525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341439"/>
            <a:ext cx="5181600" cy="4835525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Georg Heinze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C09D1-9D44-46E9-90D5-584F6311654E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052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 Weiß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68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 rosa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99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 türkis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294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341439"/>
            <a:ext cx="5181600" cy="4835525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341439"/>
            <a:ext cx="5181600" cy="4835525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83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976312"/>
          </a:xfrm>
        </p:spPr>
        <p:txBody>
          <a:bodyPr/>
          <a:lstStyle/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9" y="1341439"/>
            <a:ext cx="5157787" cy="85932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24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9" y="2200759"/>
            <a:ext cx="5157787" cy="3988904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1" y="1341439"/>
            <a:ext cx="5183188" cy="859320"/>
          </a:xfrm>
        </p:spPr>
        <p:txBody>
          <a:bodyPr anchor="t">
            <a:noAutofit/>
          </a:bodyPr>
          <a:lstStyle>
            <a:lvl1pPr marL="0" indent="0">
              <a:lnSpc>
                <a:spcPct val="110000"/>
              </a:lnSpc>
              <a:buNone/>
              <a:defRPr lang="de-DE" sz="2400" b="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1" y="2200759"/>
            <a:ext cx="5183188" cy="3988904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681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372383" y="6351777"/>
            <a:ext cx="4850224" cy="2262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Georg Heinze</a:t>
            </a:r>
            <a:endParaRPr lang="de-DE" dirty="0"/>
          </a:p>
        </p:txBody>
      </p:sp>
      <p:sp>
        <p:nvSpPr>
          <p:cNvPr id="12" name="Datumsplatzhalter 3"/>
          <p:cNvSpPr>
            <a:spLocks noGrp="1"/>
          </p:cNvSpPr>
          <p:nvPr>
            <p:ph type="dt" sz="half" idx="2"/>
          </p:nvPr>
        </p:nvSpPr>
        <p:spPr>
          <a:xfrm>
            <a:off x="6372383" y="6528895"/>
            <a:ext cx="4850224" cy="2333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Center for Medical Data Science – Institute of Clinical Biometrics</a:t>
            </a:r>
            <a:endParaRPr lang="de-DE" dirty="0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63087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252" y="457464"/>
            <a:ext cx="5160433" cy="5656064"/>
          </a:xfrm>
          <a:prstGeom prst="round2DiagRect">
            <a:avLst>
              <a:gd name="adj1" fmla="val 6468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108000"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400"/>
            </a:lvl1pPr>
          </a:lstStyle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3"/>
          </p:nvPr>
        </p:nvSpPr>
        <p:spPr>
          <a:xfrm>
            <a:off x="6452762" y="1438621"/>
            <a:ext cx="4781785" cy="450974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353800" y="6434322"/>
            <a:ext cx="618288" cy="314081"/>
          </a:xfrm>
        </p:spPr>
        <p:txBody>
          <a:bodyPr anchor="b"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47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/>
          <a:p>
            <a:r>
              <a:rPr lang="de-DE" noProof="0"/>
              <a:t>Center for Medical Data Science – Institute of Clinical Biometrics</a:t>
            </a:r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6372383" y="6365632"/>
            <a:ext cx="4850224" cy="2262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GB" noProof="0"/>
              <a:t>Georg Heinze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fld id="{AB6C09D1-9D44-46E9-90D5-584F6311654E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3"/>
          </p:nvPr>
        </p:nvSpPr>
        <p:spPr>
          <a:xfrm>
            <a:off x="804333" y="1341437"/>
            <a:ext cx="5291667" cy="4967288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  <p:sp>
        <p:nvSpPr>
          <p:cNvPr id="7" name="Inhaltsplatzhalter 6"/>
          <p:cNvSpPr>
            <a:spLocks noGrp="1" noChangeAspect="1"/>
          </p:cNvSpPr>
          <p:nvPr>
            <p:ph sz="quarter" idx="14"/>
          </p:nvPr>
        </p:nvSpPr>
        <p:spPr>
          <a:xfrm>
            <a:off x="6464301" y="1341438"/>
            <a:ext cx="4889500" cy="4853804"/>
          </a:xfrm>
          <a:prstGeom prst="round2DiagRect">
            <a:avLst>
              <a:gd name="adj1" fmla="val 8954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108000" tIns="72000" bIns="7200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05612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abgerund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GB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/>
          <a:p>
            <a:r>
              <a:rPr lang="de-DE" noProof="0"/>
              <a:t>Center for Medical Data Science – Institute of Clinical Biometrics</a:t>
            </a:r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6372383" y="6365632"/>
            <a:ext cx="4850224" cy="2262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GB" noProof="0"/>
              <a:t>Georg Heinze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fld id="{AB6C09D1-9D44-46E9-90D5-584F6311654E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3"/>
          </p:nvPr>
        </p:nvSpPr>
        <p:spPr>
          <a:xfrm>
            <a:off x="804333" y="1341437"/>
            <a:ext cx="10549467" cy="4967288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069087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678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334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" y="6308725"/>
            <a:ext cx="12192000" cy="5492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2000"/>
          </a:xfrm>
          <a:prstGeom prst="rect">
            <a:avLst/>
          </a:prstGeom>
        </p:spPr>
        <p:txBody>
          <a:bodyPr vert="horz" lIns="0" tIns="72000" rIns="0" bIns="0" rtlCol="0" anchor="t">
            <a:normAutofit/>
          </a:bodyPr>
          <a:lstStyle/>
          <a:p>
            <a:r>
              <a:rPr lang="en-GB" noProof="0" dirty="0" err="1"/>
              <a:t>Titelmasterformat</a:t>
            </a:r>
            <a:r>
              <a:rPr lang="en-GB" noProof="0" dirty="0"/>
              <a:t> </a:t>
            </a:r>
            <a:r>
              <a:rPr lang="en-GB" noProof="0" dirty="0" err="1"/>
              <a:t>durch</a:t>
            </a:r>
            <a:r>
              <a:rPr lang="en-GB" noProof="0" dirty="0"/>
              <a:t> </a:t>
            </a:r>
            <a:r>
              <a:rPr lang="en-GB" noProof="0" dirty="0" err="1"/>
              <a:t>Klicken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337126"/>
            <a:ext cx="10515600" cy="48398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GB" noProof="0" dirty="0" err="1"/>
              <a:t>Formatvorlagen</a:t>
            </a:r>
            <a:r>
              <a:rPr lang="en-GB" noProof="0" dirty="0"/>
              <a:t> des </a:t>
            </a:r>
            <a:r>
              <a:rPr lang="en-GB" noProof="0" dirty="0" err="1"/>
              <a:t>Textmasters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  <a:p>
            <a:pPr lvl="1"/>
            <a:r>
              <a:rPr lang="en-GB" noProof="0" dirty="0" err="1"/>
              <a:t>Zweite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2"/>
            <a:r>
              <a:rPr lang="en-GB" noProof="0" dirty="0" err="1"/>
              <a:t>Dritte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3"/>
            <a:r>
              <a:rPr lang="en-GB" noProof="0" dirty="0" err="1"/>
              <a:t>Vierte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4"/>
            <a:r>
              <a:rPr lang="en-GB" noProof="0" dirty="0" err="1"/>
              <a:t>Fünfte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372383" y="6528895"/>
            <a:ext cx="4850224" cy="2333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Center for Medical Data Science – Institute of Clinical Biometrics</a:t>
            </a:r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372383" y="6351777"/>
            <a:ext cx="4850224" cy="2262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Georg Heinze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353800" y="6434322"/>
            <a:ext cx="618288" cy="3140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AB6C09D1-9D44-46E9-90D5-584F6311654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16" y="6389275"/>
            <a:ext cx="1694958" cy="355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38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6" r:id="rId2"/>
    <p:sldLayoutId id="2147483672" r:id="rId3"/>
    <p:sldLayoutId id="2147483661" r:id="rId4"/>
    <p:sldLayoutId id="2147483650" r:id="rId5"/>
    <p:sldLayoutId id="2147483677" r:id="rId6"/>
    <p:sldLayoutId id="2147483673" r:id="rId7"/>
    <p:sldLayoutId id="2147483664" r:id="rId8"/>
    <p:sldLayoutId id="2147483665" r:id="rId9"/>
    <p:sldLayoutId id="2147483652" r:id="rId10"/>
    <p:sldLayoutId id="2147483653" r:id="rId11"/>
    <p:sldLayoutId id="2147483660" r:id="rId12"/>
    <p:sldLayoutId id="2147483674" r:id="rId13"/>
    <p:sldLayoutId id="2147483675" r:id="rId14"/>
    <p:sldLayoutId id="2147483654" r:id="rId15"/>
    <p:sldLayoutId id="2147483655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94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63525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-263525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347788" indent="-277813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507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845" userDrawn="1">
          <p15:clr>
            <a:srgbClr val="F26B43"/>
          </p15:clr>
        </p15:guide>
        <p15:guide id="4" orient="horz" pos="404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pos="39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osf.io/zfjah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  <a:endParaRPr lang="de-DE" b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Georg Heinze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beauty of descriptive models – </a:t>
            </a:r>
            <a:r>
              <a:rPr lang="en-GB" sz="4000" dirty="0"/>
              <a:t>and </a:t>
            </a:r>
            <a:r>
              <a:rPr lang="en-GB" sz="4000" dirty="0" err="1"/>
              <a:t>bodyfat</a:t>
            </a:r>
            <a:r>
              <a:rPr lang="en-GB" sz="4000" dirty="0"/>
              <a:t> (the beast)</a:t>
            </a:r>
            <a:endParaRPr lang="en-GB" sz="48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Georg Heinze</a:t>
            </a:r>
            <a:br>
              <a:rPr lang="de-DE" dirty="0"/>
            </a:br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Clinical </a:t>
            </a:r>
            <a:r>
              <a:rPr lang="de-DE" dirty="0" err="1"/>
              <a:t>Biometrics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786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Outline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2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On </a:t>
            </a:r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modeling</a:t>
            </a:r>
            <a:endParaRPr lang="de-DE" dirty="0"/>
          </a:p>
          <a:p>
            <a:r>
              <a:rPr lang="de-DE" dirty="0"/>
              <a:t>The (</a:t>
            </a:r>
            <a:r>
              <a:rPr lang="de-DE" dirty="0" err="1"/>
              <a:t>ir</a:t>
            </a:r>
            <a:r>
              <a:rPr lang="de-DE" dirty="0"/>
              <a:t>)</a:t>
            </a:r>
            <a:r>
              <a:rPr lang="de-DE" dirty="0" err="1"/>
              <a:t>relevance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variable </a:t>
            </a:r>
            <a:r>
              <a:rPr lang="de-DE" dirty="0" err="1"/>
              <a:t>selection</a:t>
            </a:r>
            <a:endParaRPr lang="de-AT" dirty="0"/>
          </a:p>
          <a:p>
            <a:r>
              <a:rPr lang="de-DE" dirty="0"/>
              <a:t>New </a:t>
            </a:r>
            <a:r>
              <a:rPr lang="de-DE" dirty="0" err="1"/>
              <a:t>task</a:t>
            </a:r>
            <a:r>
              <a:rPr lang="de-DE" dirty="0"/>
              <a:t>: </a:t>
            </a:r>
            <a:br>
              <a:rPr lang="de-DE" dirty="0"/>
            </a:br>
            <a:r>
              <a:rPr lang="de-DE" dirty="0" err="1"/>
              <a:t>predicting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percentage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 </a:t>
            </a:r>
            <a:r>
              <a:rPr lang="de-DE" dirty="0" err="1"/>
              <a:t>fat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5-parameter linear </a:t>
            </a:r>
            <a:r>
              <a:rPr lang="de-DE" dirty="0" err="1"/>
              <a:t>model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875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 err="1"/>
              <a:t>Purpose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models</a:t>
            </a:r>
            <a:r>
              <a:rPr lang="de-AT" dirty="0"/>
              <a:t>: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Explain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Predict</a:t>
            </a:r>
            <a:r>
              <a:rPr lang="de-AT" dirty="0"/>
              <a:t>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4294967295"/>
          </p:nvPr>
        </p:nvSpPr>
        <p:spPr>
          <a:xfrm>
            <a:off x="838200" y="1159516"/>
            <a:ext cx="11193814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b="1" dirty="0"/>
              <a:t>Predictive models</a:t>
            </a:r>
          </a:p>
          <a:p>
            <a:pPr lvl="1"/>
            <a:r>
              <a:rPr lang="en-US" dirty="0"/>
              <a:t>Interest in predicting outcome for future application.</a:t>
            </a:r>
          </a:p>
          <a:p>
            <a:pPr lvl="1"/>
            <a:r>
              <a:rPr lang="en-US" dirty="0"/>
              <a:t>“Predict how outcomes will be, given the predictors.”</a:t>
            </a:r>
            <a:endParaRPr lang="de-AT" dirty="0"/>
          </a:p>
          <a:p>
            <a:r>
              <a:rPr lang="en-US" b="1" dirty="0"/>
              <a:t>Explanatory models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Interest in inferring causal effects of interventions on outcome.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“Explain why outcomes differ depending on the intervention.”</a:t>
            </a:r>
          </a:p>
          <a:p>
            <a:r>
              <a:rPr lang="de-AT" b="1" dirty="0" err="1"/>
              <a:t>Descriptive</a:t>
            </a:r>
            <a:r>
              <a:rPr lang="de-AT" b="1" dirty="0"/>
              <a:t> </a:t>
            </a:r>
            <a:r>
              <a:rPr lang="de-AT" b="1" dirty="0" err="1"/>
              <a:t>models</a:t>
            </a:r>
            <a:r>
              <a:rPr lang="de-AT" b="1" dirty="0"/>
              <a:t> </a:t>
            </a:r>
          </a:p>
          <a:p>
            <a:pPr lvl="1"/>
            <a:r>
              <a:rPr lang="de-AT" dirty="0"/>
              <a:t>Interest in </a:t>
            </a:r>
            <a:r>
              <a:rPr lang="de-AT" dirty="0" err="1"/>
              <a:t>describing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structure</a:t>
            </a:r>
            <a:r>
              <a:rPr lang="de-AT" dirty="0"/>
              <a:t> </a:t>
            </a:r>
            <a:r>
              <a:rPr lang="de-AT" dirty="0" err="1"/>
              <a:t>parsimoniously</a:t>
            </a:r>
            <a:r>
              <a:rPr lang="de-AT" dirty="0"/>
              <a:t>.</a:t>
            </a:r>
          </a:p>
          <a:p>
            <a:pPr lvl="1"/>
            <a:r>
              <a:rPr lang="en-US" dirty="0"/>
              <a:t>“</a:t>
            </a:r>
            <a:r>
              <a:rPr lang="de-AT" dirty="0" err="1"/>
              <a:t>Describe</a:t>
            </a:r>
            <a:r>
              <a:rPr lang="de-AT" dirty="0"/>
              <a:t> </a:t>
            </a:r>
            <a:r>
              <a:rPr lang="de-AT" dirty="0" err="1"/>
              <a:t>how</a:t>
            </a:r>
            <a:r>
              <a:rPr lang="de-AT" dirty="0"/>
              <a:t> </a:t>
            </a:r>
            <a:r>
              <a:rPr lang="de-AT" dirty="0" err="1"/>
              <a:t>outcome</a:t>
            </a:r>
            <a:r>
              <a:rPr lang="de-AT" dirty="0"/>
              <a:t> </a:t>
            </a:r>
            <a:r>
              <a:rPr lang="de-AT" dirty="0" err="1"/>
              <a:t>varies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predictors</a:t>
            </a:r>
            <a:r>
              <a:rPr lang="de-AT" dirty="0"/>
              <a:t>.“</a:t>
            </a:r>
          </a:p>
          <a:p>
            <a:r>
              <a:rPr lang="en-US" b="1" dirty="0">
                <a:sym typeface="Wingdings" panose="05000000000000000000" pitchFamily="2" charset="2"/>
              </a:rPr>
              <a:t>A given modeling task may have several dimensions! </a:t>
            </a:r>
            <a:r>
              <a:rPr lang="en-US" dirty="0">
                <a:sym typeface="Wingdings" panose="05000000000000000000" pitchFamily="2" charset="2"/>
              </a:rPr>
              <a:t>(e.g. descriptive-predictive)</a:t>
            </a:r>
          </a:p>
          <a:p>
            <a:r>
              <a:rPr lang="en-US" dirty="0">
                <a:sym typeface="Wingdings" panose="05000000000000000000" pitchFamily="2" charset="2"/>
              </a:rPr>
              <a:t>Similar considerations by Hernan et al, 2019; and Carlin and Moreno-</a:t>
            </a:r>
            <a:r>
              <a:rPr lang="en-US" dirty="0" err="1">
                <a:sym typeface="Wingdings" panose="05000000000000000000" pitchFamily="2" charset="2"/>
              </a:rPr>
              <a:t>Betancur</a:t>
            </a:r>
            <a:r>
              <a:rPr lang="en-US" dirty="0">
                <a:sym typeface="Wingdings" panose="05000000000000000000" pitchFamily="2" charset="2"/>
              </a:rPr>
              <a:t>,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5562" y="3636561"/>
            <a:ext cx="2146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de-AT" sz="2000" dirty="0"/>
              <a:t>(</a:t>
            </a:r>
            <a:r>
              <a:rPr lang="de-AT" sz="2000" dirty="0" err="1"/>
              <a:t>Shmueli</a:t>
            </a:r>
            <a:r>
              <a:rPr lang="de-AT" sz="2000" dirty="0"/>
              <a:t>, 2010)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CeMSIIS - Section for Clinical Biometrics</a:t>
            </a:r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AT" dirty="0"/>
              <a:t>Daniela Dunkler </a:t>
            </a:r>
            <a:r>
              <a:rPr lang="de-AT" dirty="0" err="1"/>
              <a:t>and</a:t>
            </a:r>
            <a:r>
              <a:rPr lang="de-AT" dirty="0"/>
              <a:t> Georg Heinze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1A4E2-7D7E-44E4-9D07-A27E43A3196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790" y="1159516"/>
            <a:ext cx="3011519" cy="208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9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4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‚</a:t>
            </a:r>
            <a:r>
              <a:rPr lang="de-DE" dirty="0" err="1"/>
              <a:t>trichonomy</a:t>
            </a:r>
            <a:r>
              <a:rPr lang="de-DE" dirty="0"/>
              <a:t>‘ (D/P/E)</a:t>
            </a:r>
          </a:p>
          <a:p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purpose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: </a:t>
            </a:r>
            <a:br>
              <a:rPr lang="de-DE" dirty="0"/>
            </a:br>
            <a:r>
              <a:rPr lang="de-DE" dirty="0"/>
              <a:t>„</a:t>
            </a:r>
            <a:r>
              <a:rPr lang="en-US" dirty="0"/>
              <a:t>characterizing the distribution of a feature or health outcome in a population”</a:t>
            </a:r>
          </a:p>
          <a:p>
            <a:r>
              <a:rPr lang="en-US" dirty="0"/>
              <a:t>Here: “curve fitting”</a:t>
            </a:r>
          </a:p>
          <a:p>
            <a:r>
              <a:rPr lang="en-US" dirty="0"/>
              <a:t>Model makes an important assumption. </a:t>
            </a:r>
            <a:r>
              <a:rPr lang="en-US" i="1" dirty="0"/>
              <a:t>Which one?</a:t>
            </a:r>
            <a:endParaRPr lang="de-AT" i="1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365125"/>
            <a:ext cx="6596915" cy="255821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197" y="153054"/>
            <a:ext cx="4064905" cy="436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5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5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Unit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action</a:t>
            </a:r>
            <a:r>
              <a:rPr lang="de-DE" dirty="0"/>
              <a:t>: individual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collective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Description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in (</a:t>
            </a:r>
            <a:r>
              <a:rPr lang="de-DE" dirty="0" err="1"/>
              <a:t>sub</a:t>
            </a:r>
            <a:r>
              <a:rPr lang="de-DE" dirty="0"/>
              <a:t>)</a:t>
            </a:r>
            <a:r>
              <a:rPr lang="de-DE" dirty="0" err="1"/>
              <a:t>populations</a:t>
            </a:r>
            <a:r>
              <a:rPr lang="de-DE" dirty="0"/>
              <a:t> (</a:t>
            </a:r>
            <a:r>
              <a:rPr lang="de-DE" dirty="0" err="1"/>
              <a:t>collective</a:t>
            </a:r>
            <a:r>
              <a:rPr lang="de-DE" dirty="0"/>
              <a:t>),</a:t>
            </a:r>
            <a:br>
              <a:rPr lang="de-DE" dirty="0"/>
            </a:br>
            <a:r>
              <a:rPr lang="de-DE" dirty="0" err="1"/>
              <a:t>description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covariates</a:t>
            </a:r>
            <a:r>
              <a:rPr lang="de-DE" dirty="0"/>
              <a:t> (individual,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Mariana‘s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),</a:t>
            </a:r>
            <a:br>
              <a:rPr lang="de-DE" dirty="0"/>
            </a:b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description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(=</a:t>
            </a:r>
            <a:r>
              <a:rPr lang="de-DE" dirty="0" err="1"/>
              <a:t>associations</a:t>
            </a:r>
            <a:r>
              <a:rPr lang="de-DE" dirty="0"/>
              <a:t>, </a:t>
            </a:r>
            <a:r>
              <a:rPr lang="de-DE" dirty="0" err="1"/>
              <a:t>collective</a:t>
            </a:r>
            <a:r>
              <a:rPr lang="de-DE" dirty="0"/>
              <a:t>)?</a:t>
            </a:r>
          </a:p>
          <a:p>
            <a:r>
              <a:rPr lang="de-DE" dirty="0"/>
              <a:t>Variable </a:t>
            </a:r>
            <a:r>
              <a:rPr lang="de-DE" dirty="0" err="1"/>
              <a:t>names</a:t>
            </a:r>
            <a:r>
              <a:rPr lang="de-DE" dirty="0"/>
              <a:t> matter:</a:t>
            </a:r>
          </a:p>
          <a:p>
            <a:pPr lvl="1"/>
            <a:r>
              <a:rPr lang="de-DE" dirty="0" err="1"/>
              <a:t>Predictors</a:t>
            </a:r>
            <a:r>
              <a:rPr lang="de-DE" dirty="0"/>
              <a:t>, </a:t>
            </a:r>
            <a:r>
              <a:rPr lang="de-DE" dirty="0" err="1"/>
              <a:t>confounder</a:t>
            </a:r>
            <a:r>
              <a:rPr lang="de-DE" dirty="0"/>
              <a:t>/</a:t>
            </a:r>
            <a:r>
              <a:rPr lang="de-DE" dirty="0" err="1"/>
              <a:t>collider</a:t>
            </a:r>
            <a:r>
              <a:rPr lang="de-DE" dirty="0"/>
              <a:t>/</a:t>
            </a:r>
            <a:r>
              <a:rPr lang="de-DE" dirty="0" err="1"/>
              <a:t>mediator</a:t>
            </a:r>
            <a:r>
              <a:rPr lang="de-DE" dirty="0"/>
              <a:t>/</a:t>
            </a:r>
            <a:r>
              <a:rPr lang="de-DE" dirty="0" err="1"/>
              <a:t>instrument</a:t>
            </a:r>
            <a:r>
              <a:rPr lang="de-DE" dirty="0"/>
              <a:t>, </a:t>
            </a:r>
            <a:r>
              <a:rPr lang="de-DE" dirty="0" err="1"/>
              <a:t>covariate</a:t>
            </a:r>
            <a:r>
              <a:rPr lang="de-DE" dirty="0"/>
              <a:t>/</a:t>
            </a:r>
            <a:r>
              <a:rPr lang="de-DE" dirty="0" err="1"/>
              <a:t>independent</a:t>
            </a:r>
            <a:r>
              <a:rPr lang="de-DE" dirty="0"/>
              <a:t> variable? </a:t>
            </a:r>
          </a:p>
          <a:p>
            <a:endParaRPr lang="de-AT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42" y="336386"/>
            <a:ext cx="6885394" cy="3260357"/>
          </a:xfrm>
          <a:prstGeom prst="rect">
            <a:avLst/>
          </a:prstGeom>
          <a:ln>
            <a:noFill/>
          </a:ln>
        </p:spPr>
      </p:pic>
      <p:cxnSp>
        <p:nvCxnSpPr>
          <p:cNvPr id="9" name="Gerader Verbinder 8"/>
          <p:cNvCxnSpPr/>
          <p:nvPr/>
        </p:nvCxnSpPr>
        <p:spPr>
          <a:xfrm flipV="1">
            <a:off x="3119948" y="1758160"/>
            <a:ext cx="1471674" cy="117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306" y="1284530"/>
            <a:ext cx="3986362" cy="226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5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typical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modeling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6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describe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association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„</a:t>
            </a:r>
            <a:r>
              <a:rPr lang="de-DE" dirty="0" err="1"/>
              <a:t>outcome</a:t>
            </a:r>
            <a:r>
              <a:rPr lang="de-DE" dirty="0"/>
              <a:t>“ 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essential </a:t>
            </a:r>
            <a:r>
              <a:rPr lang="de-DE" dirty="0" err="1"/>
              <a:t>covariates</a:t>
            </a:r>
            <a:r>
              <a:rPr lang="de-DE" dirty="0"/>
              <a:t> X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larger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possible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lvl="1"/>
            <a:r>
              <a:rPr lang="de-DE" dirty="0" err="1"/>
              <a:t>Parsimonious</a:t>
            </a:r>
            <a:r>
              <a:rPr lang="de-DE" dirty="0"/>
              <a:t> </a:t>
            </a:r>
            <a:r>
              <a:rPr lang="de-DE" dirty="0" err="1"/>
              <a:t>description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a simple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Variable </a:t>
            </a:r>
            <a:r>
              <a:rPr lang="de-DE" dirty="0" err="1"/>
              <a:t>selection</a:t>
            </a:r>
            <a:r>
              <a:rPr lang="de-DE" dirty="0"/>
              <a:t>, simple </a:t>
            </a:r>
            <a:r>
              <a:rPr lang="de-DE" dirty="0" err="1"/>
              <a:t>functional</a:t>
            </a:r>
            <a:r>
              <a:rPr lang="de-DE" dirty="0"/>
              <a:t> </a:t>
            </a:r>
            <a:r>
              <a:rPr lang="de-DE" dirty="0" err="1"/>
              <a:t>forms</a:t>
            </a:r>
            <a:endParaRPr lang="de-DE" dirty="0"/>
          </a:p>
          <a:p>
            <a:pPr lvl="1"/>
            <a:r>
              <a:rPr lang="de-DE" dirty="0"/>
              <a:t>Easy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derive</a:t>
            </a:r>
            <a:r>
              <a:rPr lang="de-DE" dirty="0"/>
              <a:t> partial </a:t>
            </a:r>
            <a:r>
              <a:rPr lang="de-DE" dirty="0" err="1"/>
              <a:t>associations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Easy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statements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Y|X</a:t>
            </a:r>
          </a:p>
          <a:p>
            <a:pPr lvl="1"/>
            <a:r>
              <a:rPr lang="de-DE" i="1" dirty="0" err="1"/>
              <a:t>Risk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overestimation</a:t>
            </a:r>
            <a:r>
              <a:rPr lang="de-DE" i="1" dirty="0"/>
              <a:t>/</a:t>
            </a:r>
            <a:r>
              <a:rPr lang="de-DE" i="1" dirty="0" err="1"/>
              <a:t>overinterpretation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partial </a:t>
            </a:r>
            <a:r>
              <a:rPr lang="de-DE" i="1" dirty="0" err="1"/>
              <a:t>associations</a:t>
            </a:r>
            <a:r>
              <a:rPr lang="de-DE" i="1" dirty="0"/>
              <a:t>, </a:t>
            </a:r>
            <a:r>
              <a:rPr lang="de-DE" i="1" dirty="0" err="1"/>
              <a:t>neglecting</a:t>
            </a:r>
            <a:r>
              <a:rPr lang="de-DE" i="1" dirty="0"/>
              <a:t> </a:t>
            </a:r>
            <a:r>
              <a:rPr lang="de-DE" i="1" dirty="0" err="1"/>
              <a:t>others</a:t>
            </a:r>
            <a:endParaRPr lang="de-DE" i="1" dirty="0"/>
          </a:p>
          <a:p>
            <a:pPr lvl="1"/>
            <a:r>
              <a:rPr lang="de-DE" i="1" dirty="0" err="1"/>
              <a:t>Risk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underestimation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uncertainty</a:t>
            </a:r>
            <a:endParaRPr lang="de-DE" i="1" dirty="0"/>
          </a:p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describe</a:t>
            </a:r>
            <a:r>
              <a:rPr lang="de-DE" dirty="0"/>
              <a:t> a non-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association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</a:t>
            </a:r>
            <a:r>
              <a:rPr lang="de-DE" dirty="0" err="1"/>
              <a:t>outcome</a:t>
            </a:r>
            <a:r>
              <a:rPr lang="de-DE" dirty="0"/>
              <a:t> Y </a:t>
            </a:r>
            <a:r>
              <a:rPr lang="de-DE" dirty="0" err="1"/>
              <a:t>with</a:t>
            </a:r>
            <a:r>
              <a:rPr lang="de-DE" dirty="0"/>
              <a:t> an </a:t>
            </a:r>
            <a:r>
              <a:rPr lang="de-DE" dirty="0" err="1"/>
              <a:t>independent</a:t>
            </a:r>
            <a:r>
              <a:rPr lang="de-DE" dirty="0"/>
              <a:t> variable/</a:t>
            </a:r>
            <a:r>
              <a:rPr lang="de-DE" dirty="0" err="1"/>
              <a:t>exposure</a:t>
            </a:r>
            <a:r>
              <a:rPr lang="de-DE" dirty="0"/>
              <a:t> X, </a:t>
            </a:r>
            <a:r>
              <a:rPr lang="de-DE" dirty="0" err="1"/>
              <a:t>possibly</a:t>
            </a:r>
            <a:r>
              <a:rPr lang="de-DE" dirty="0"/>
              <a:t> </a:t>
            </a:r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covariates</a:t>
            </a:r>
            <a:endParaRPr lang="de-DE" dirty="0"/>
          </a:p>
          <a:p>
            <a:pPr lvl="1"/>
            <a:r>
              <a:rPr lang="de-DE" dirty="0"/>
              <a:t>‚</a:t>
            </a:r>
            <a:r>
              <a:rPr lang="de-DE" dirty="0" err="1"/>
              <a:t>Curve</a:t>
            </a:r>
            <a:r>
              <a:rPr lang="de-DE" dirty="0"/>
              <a:t> </a:t>
            </a:r>
            <a:r>
              <a:rPr lang="de-DE" dirty="0" err="1"/>
              <a:t>fitting</a:t>
            </a:r>
            <a:r>
              <a:rPr lang="de-DE" dirty="0"/>
              <a:t>‘: </a:t>
            </a:r>
          </a:p>
          <a:p>
            <a:pPr lvl="2"/>
            <a:r>
              <a:rPr lang="de-DE" dirty="0" err="1"/>
              <a:t>smoothing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variance</a:t>
            </a:r>
            <a:r>
              <a:rPr lang="de-DE" dirty="0"/>
              <a:t>-bias trade-off </a:t>
            </a:r>
          </a:p>
          <a:p>
            <a:pPr lvl="2"/>
            <a:r>
              <a:rPr lang="de-DE" dirty="0"/>
              <a:t>separate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unsystematic</a:t>
            </a:r>
            <a:r>
              <a:rPr lang="de-DE" dirty="0"/>
              <a:t> </a:t>
            </a:r>
            <a:r>
              <a:rPr lang="de-DE" dirty="0" err="1"/>
              <a:t>variation</a:t>
            </a:r>
            <a:endParaRPr lang="de-DE" dirty="0"/>
          </a:p>
          <a:p>
            <a:pPr lvl="2"/>
            <a:r>
              <a:rPr lang="de-DE" dirty="0"/>
              <a:t>simple </a:t>
            </a:r>
            <a:r>
              <a:rPr lang="de-DE" dirty="0" err="1"/>
              <a:t>equations</a:t>
            </a:r>
            <a:r>
              <a:rPr lang="de-DE" dirty="0"/>
              <a:t> </a:t>
            </a:r>
            <a:r>
              <a:rPr lang="de-DE" dirty="0" err="1"/>
              <a:t>preferred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description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</a:t>
            </a:r>
            <a:r>
              <a:rPr lang="de-DE" i="1" dirty="0" err="1"/>
              <a:t>try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publish</a:t>
            </a:r>
            <a:r>
              <a:rPr lang="de-DE" i="1" dirty="0"/>
              <a:t> a </a:t>
            </a:r>
            <a:r>
              <a:rPr lang="de-DE" i="1" dirty="0" err="1"/>
              <a:t>formula</a:t>
            </a:r>
            <a:r>
              <a:rPr lang="de-DE" i="1" dirty="0"/>
              <a:t> </a:t>
            </a:r>
            <a:r>
              <a:rPr lang="de-DE" i="1" dirty="0" err="1"/>
              <a:t>with</a:t>
            </a:r>
            <a:r>
              <a:rPr lang="de-DE" i="1" dirty="0"/>
              <a:t> </a:t>
            </a:r>
            <a:r>
              <a:rPr lang="de-DE" i="1" dirty="0" err="1"/>
              <a:t>truncated</a:t>
            </a:r>
            <a:r>
              <a:rPr lang="de-DE" i="1" dirty="0"/>
              <a:t> power </a:t>
            </a:r>
            <a:r>
              <a:rPr lang="de-DE" i="1" dirty="0" err="1"/>
              <a:t>functions</a:t>
            </a:r>
            <a:r>
              <a:rPr lang="de-DE" i="1" dirty="0"/>
              <a:t> in a </a:t>
            </a:r>
            <a:r>
              <a:rPr lang="de-DE" i="1" dirty="0" err="1"/>
              <a:t>medical</a:t>
            </a:r>
            <a:r>
              <a:rPr lang="de-DE" i="1" dirty="0"/>
              <a:t> </a:t>
            </a:r>
            <a:r>
              <a:rPr lang="de-DE" i="1" dirty="0" err="1"/>
              <a:t>journal</a:t>
            </a:r>
            <a:r>
              <a:rPr lang="de-DE" i="1" dirty="0"/>
              <a:t>!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Kidney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age</a:t>
            </a:r>
            <a:r>
              <a:rPr lang="de-DE" dirty="0"/>
              <a:t>, CV </a:t>
            </a:r>
            <a:r>
              <a:rPr lang="de-DE" dirty="0" err="1"/>
              <a:t>risk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Lipoprotein</a:t>
            </a:r>
            <a:r>
              <a:rPr lang="de-DE" dirty="0"/>
              <a:t>(a), BMI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age+sex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615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: </a:t>
            </a:r>
            <a:r>
              <a:rPr lang="de-DE" dirty="0" err="1"/>
              <a:t>predicting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 </a:t>
            </a:r>
            <a:r>
              <a:rPr lang="de-DE" dirty="0" err="1"/>
              <a:t>fat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7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Background:</a:t>
            </a:r>
          </a:p>
          <a:p>
            <a:pPr lvl="1"/>
            <a:r>
              <a:rPr lang="de-DE" dirty="0"/>
              <a:t>Body </a:t>
            </a:r>
            <a:r>
              <a:rPr lang="de-DE" dirty="0" err="1"/>
              <a:t>fat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;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underwater</a:t>
            </a:r>
            <a:r>
              <a:rPr lang="de-DE" dirty="0"/>
              <a:t> </a:t>
            </a:r>
            <a:r>
              <a:rPr lang="de-DE" dirty="0" err="1"/>
              <a:t>density</a:t>
            </a:r>
            <a:r>
              <a:rPr lang="de-DE" dirty="0"/>
              <a:t> </a:t>
            </a:r>
            <a:r>
              <a:rPr lang="de-DE" dirty="0" err="1"/>
              <a:t>measurements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lean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 </a:t>
            </a:r>
            <a:r>
              <a:rPr lang="de-DE" dirty="0" err="1"/>
              <a:t>mass</a:t>
            </a:r>
            <a:r>
              <a:rPr lang="de-DE" dirty="0"/>
              <a:t>; 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/>
              <a:t>fat</a:t>
            </a:r>
            <a:r>
              <a:rPr lang="de-DE" dirty="0"/>
              <a:t> </a:t>
            </a:r>
            <a:r>
              <a:rPr lang="de-DE" dirty="0" err="1"/>
              <a:t>mass</a:t>
            </a:r>
            <a:r>
              <a:rPr lang="de-DE" dirty="0"/>
              <a:t> = total </a:t>
            </a:r>
            <a:r>
              <a:rPr lang="de-DE" dirty="0" err="1"/>
              <a:t>mass</a:t>
            </a:r>
            <a:r>
              <a:rPr lang="de-DE" dirty="0"/>
              <a:t> – </a:t>
            </a:r>
            <a:r>
              <a:rPr lang="de-DE" dirty="0" err="1"/>
              <a:t>lean</a:t>
            </a:r>
            <a:r>
              <a:rPr lang="de-DE" dirty="0"/>
              <a:t> </a:t>
            </a:r>
            <a:r>
              <a:rPr lang="de-DE" dirty="0" err="1"/>
              <a:t>mass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/>
              <a:t>bodyfat</a:t>
            </a:r>
            <a:r>
              <a:rPr lang="de-DE" dirty="0"/>
              <a:t>% = </a:t>
            </a:r>
            <a:r>
              <a:rPr lang="de-DE" dirty="0" err="1"/>
              <a:t>fat</a:t>
            </a:r>
            <a:r>
              <a:rPr lang="de-DE" dirty="0"/>
              <a:t> </a:t>
            </a:r>
            <a:r>
              <a:rPr lang="de-DE" dirty="0" err="1"/>
              <a:t>mass</a:t>
            </a:r>
            <a:r>
              <a:rPr lang="de-DE" dirty="0"/>
              <a:t> / total </a:t>
            </a:r>
            <a:r>
              <a:rPr lang="de-DE" dirty="0" err="1"/>
              <a:t>mass</a:t>
            </a:r>
            <a:r>
              <a:rPr lang="de-DE" dirty="0"/>
              <a:t> x 100%</a:t>
            </a:r>
          </a:p>
          <a:p>
            <a:pPr lvl="1"/>
            <a:r>
              <a:rPr lang="de-DE" dirty="0" err="1"/>
              <a:t>Various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 </a:t>
            </a:r>
            <a:r>
              <a:rPr lang="de-DE" dirty="0" err="1"/>
              <a:t>fat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published</a:t>
            </a:r>
            <a:r>
              <a:rPr lang="de-DE" dirty="0"/>
              <a:t>, e.g. </a:t>
            </a:r>
            <a:r>
              <a:rPr lang="de-DE" dirty="0" err="1"/>
              <a:t>based</a:t>
            </a:r>
            <a:r>
              <a:rPr lang="de-DE" dirty="0"/>
              <a:t> on NHANES </a:t>
            </a:r>
            <a:r>
              <a:rPr lang="de-DE" dirty="0" err="1"/>
              <a:t>data</a:t>
            </a:r>
            <a:r>
              <a:rPr lang="de-DE" dirty="0"/>
              <a:t> (Stevens et al, 2016)</a:t>
            </a:r>
          </a:p>
          <a:p>
            <a:pPr lvl="1"/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published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Johnson (1996, 2021)</a:t>
            </a:r>
          </a:p>
          <a:p>
            <a:endParaRPr lang="de-DE" dirty="0"/>
          </a:p>
          <a:p>
            <a:r>
              <a:rPr lang="de-DE" dirty="0"/>
              <a:t>Research </a:t>
            </a:r>
            <a:r>
              <a:rPr lang="de-DE" dirty="0" err="1"/>
              <a:t>question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percentage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bodyfat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predicted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5 out </a:t>
            </a:r>
            <a:r>
              <a:rPr lang="de-DE" dirty="0" err="1"/>
              <a:t>of</a:t>
            </a:r>
            <a:r>
              <a:rPr lang="de-DE" dirty="0"/>
              <a:t> a larger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anthropometric</a:t>
            </a:r>
            <a:r>
              <a:rPr lang="de-DE" dirty="0"/>
              <a:t> variables.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‚</a:t>
            </a:r>
            <a:r>
              <a:rPr lang="de-DE" dirty="0" err="1"/>
              <a:t>describable</a:t>
            </a:r>
            <a:r>
              <a:rPr lang="de-DE" dirty="0"/>
              <a:t>‘ but also </a:t>
            </a:r>
            <a:r>
              <a:rPr lang="de-DE" dirty="0" err="1"/>
              <a:t>predictive</a:t>
            </a:r>
            <a:r>
              <a:rPr lang="de-DE" dirty="0"/>
              <a:t>: </a:t>
            </a:r>
            <a:r>
              <a:rPr lang="de-DE" dirty="0" err="1"/>
              <a:t>descriptive-predictive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.</a:t>
            </a:r>
          </a:p>
          <a:p>
            <a:r>
              <a:rPr lang="de-DE" dirty="0"/>
              <a:t>Data </a:t>
            </a:r>
            <a:r>
              <a:rPr lang="de-DE" dirty="0" err="1"/>
              <a:t>set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Training: Data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Johnson (2021): 184 </a:t>
            </a:r>
            <a:r>
              <a:rPr lang="de-DE" dirty="0" err="1"/>
              <a:t>college</a:t>
            </a:r>
            <a:r>
              <a:rPr lang="de-DE" dirty="0"/>
              <a:t> </a:t>
            </a:r>
            <a:r>
              <a:rPr lang="de-DE" dirty="0" err="1"/>
              <a:t>women</a:t>
            </a:r>
            <a:r>
              <a:rPr lang="de-DE" dirty="0"/>
              <a:t> </a:t>
            </a:r>
            <a:r>
              <a:rPr lang="de-DE" dirty="0" err="1"/>
              <a:t>aged</a:t>
            </a:r>
            <a:r>
              <a:rPr lang="de-DE" dirty="0"/>
              <a:t> 18-25</a:t>
            </a:r>
          </a:p>
          <a:p>
            <a:pPr lvl="1"/>
            <a:r>
              <a:rPr lang="de-DE" dirty="0"/>
              <a:t>Validation: Data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Johnson (1996): 252 </a:t>
            </a:r>
            <a:r>
              <a:rPr lang="de-DE" dirty="0" err="1"/>
              <a:t>men</a:t>
            </a:r>
            <a:r>
              <a:rPr lang="de-DE" dirty="0"/>
              <a:t> </a:t>
            </a:r>
            <a:r>
              <a:rPr lang="de-DE" dirty="0" err="1"/>
              <a:t>aged</a:t>
            </a:r>
            <a:r>
              <a:rPr lang="de-DE" dirty="0"/>
              <a:t> 18-80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34319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Predictor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from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8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34" y="1284530"/>
            <a:ext cx="5660720" cy="3717569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854" y="1337125"/>
            <a:ext cx="5491987" cy="360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3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Estimands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9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 err="1"/>
              <a:t>Selection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predictors</a:t>
            </a:r>
            <a:r>
              <a:rPr lang="de-DE" dirty="0"/>
              <a:t> (</a:t>
            </a:r>
            <a:r>
              <a:rPr lang="de-DE" dirty="0" err="1"/>
              <a:t>binary</a:t>
            </a:r>
            <a:r>
              <a:rPr lang="de-DE" dirty="0"/>
              <a:t>)</a:t>
            </a:r>
          </a:p>
          <a:p>
            <a:r>
              <a:rPr lang="de-DE" dirty="0"/>
              <a:t>Regression </a:t>
            </a:r>
            <a:r>
              <a:rPr lang="de-DE" dirty="0" err="1"/>
              <a:t>coefficients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predictors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uncertainty</a:t>
            </a:r>
            <a:endParaRPr lang="de-DE" dirty="0"/>
          </a:p>
          <a:p>
            <a:r>
              <a:rPr lang="de-DE" dirty="0" err="1"/>
              <a:t>External</a:t>
            </a:r>
            <a:r>
              <a:rPr lang="de-DE" dirty="0"/>
              <a:t> </a:t>
            </a:r>
            <a:r>
              <a:rPr lang="de-DE" dirty="0" err="1"/>
              <a:t>validation</a:t>
            </a:r>
            <a:r>
              <a:rPr lang="de-DE" dirty="0"/>
              <a:t>: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transportability</a:t>
            </a:r>
            <a:br>
              <a:rPr lang="de-DE" dirty="0"/>
            </a:b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R-</a:t>
            </a:r>
            <a:r>
              <a:rPr lang="de-DE" dirty="0" err="1"/>
              <a:t>squared</a:t>
            </a:r>
            <a:endParaRPr lang="de-DE" dirty="0"/>
          </a:p>
          <a:p>
            <a:pPr lvl="1"/>
            <a:r>
              <a:rPr lang="de-DE" dirty="0"/>
              <a:t>Root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squared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error</a:t>
            </a:r>
            <a:endParaRPr lang="de-DE" dirty="0"/>
          </a:p>
          <a:p>
            <a:pPr lvl="1"/>
            <a:r>
              <a:rPr lang="de-DE" dirty="0" err="1"/>
              <a:t>Calibration</a:t>
            </a:r>
            <a:r>
              <a:rPr lang="de-DE" dirty="0"/>
              <a:t> </a:t>
            </a:r>
            <a:r>
              <a:rPr lang="de-DE" dirty="0" err="1"/>
              <a:t>slope</a:t>
            </a:r>
            <a:r>
              <a:rPr lang="de-DE" dirty="0"/>
              <a:t> + </a:t>
            </a:r>
            <a:r>
              <a:rPr lang="de-DE" dirty="0" err="1"/>
              <a:t>intercept</a:t>
            </a:r>
            <a:endParaRPr lang="de-DE" dirty="0"/>
          </a:p>
          <a:p>
            <a:pPr lvl="1"/>
            <a:endParaRPr lang="de-DE" dirty="0"/>
          </a:p>
          <a:p>
            <a:pPr lvl="1"/>
            <a:endParaRPr lang="de-AT" dirty="0"/>
          </a:p>
        </p:txBody>
      </p:sp>
      <p:sp>
        <p:nvSpPr>
          <p:cNvPr id="7" name="Geschweifte Klammer rechts 6"/>
          <p:cNvSpPr/>
          <p:nvPr/>
        </p:nvSpPr>
        <p:spPr>
          <a:xfrm>
            <a:off x="8551406" y="1394032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Geschweifte Klammer rechts 7"/>
          <p:cNvSpPr/>
          <p:nvPr/>
        </p:nvSpPr>
        <p:spPr>
          <a:xfrm>
            <a:off x="8551406" y="2471695"/>
            <a:ext cx="204072" cy="20767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/>
          <p:cNvSpPr txBox="1"/>
          <p:nvPr/>
        </p:nvSpPr>
        <p:spPr>
          <a:xfrm>
            <a:off x="9026266" y="1632577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descriptive</a:t>
            </a:r>
            <a:endParaRPr lang="de-AT" dirty="0"/>
          </a:p>
        </p:txBody>
      </p:sp>
      <p:sp>
        <p:nvSpPr>
          <p:cNvPr id="10" name="Textfeld 9"/>
          <p:cNvSpPr txBox="1"/>
          <p:nvPr/>
        </p:nvSpPr>
        <p:spPr>
          <a:xfrm>
            <a:off x="8978519" y="311152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predictive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45058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Proposed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approach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10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Linear </a:t>
            </a:r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linear </a:t>
            </a:r>
            <a:r>
              <a:rPr lang="de-DE" dirty="0" err="1"/>
              <a:t>functional</a:t>
            </a:r>
            <a:r>
              <a:rPr lang="de-DE" dirty="0"/>
              <a:t> </a:t>
            </a:r>
            <a:r>
              <a:rPr lang="de-DE" dirty="0" err="1"/>
              <a:t>forms</a:t>
            </a:r>
            <a:r>
              <a:rPr lang="de-DE" dirty="0"/>
              <a:t> </a:t>
            </a:r>
            <a:r>
              <a:rPr lang="de-DE" dirty="0" err="1"/>
              <a:t>only</a:t>
            </a:r>
            <a:endParaRPr lang="de-DE" dirty="0"/>
          </a:p>
          <a:p>
            <a:pPr lvl="1"/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argue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%</a:t>
            </a:r>
            <a:r>
              <a:rPr lang="de-DE" dirty="0" err="1"/>
              <a:t>bodyfat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restricted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0-100% -&gt; </a:t>
            </a:r>
            <a:br>
              <a:rPr lang="de-DE" dirty="0"/>
            </a:br>
            <a:r>
              <a:rPr lang="de-DE" dirty="0"/>
              <a:t>zero-</a:t>
            </a:r>
            <a:r>
              <a:rPr lang="de-DE" dirty="0" err="1"/>
              <a:t>inflated</a:t>
            </a:r>
            <a:r>
              <a:rPr lang="de-DE" dirty="0"/>
              <a:t> </a:t>
            </a:r>
            <a:r>
              <a:rPr lang="de-DE" dirty="0" err="1"/>
              <a:t>beta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Variable </a:t>
            </a:r>
            <a:r>
              <a:rPr lang="de-DE" dirty="0" err="1"/>
              <a:t>selection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obtain</a:t>
            </a:r>
            <a:r>
              <a:rPr lang="de-DE" dirty="0"/>
              <a:t> max. 5 </a:t>
            </a:r>
            <a:r>
              <a:rPr lang="de-DE" dirty="0" err="1"/>
              <a:t>predictors</a:t>
            </a:r>
            <a:r>
              <a:rPr lang="de-DE" dirty="0"/>
              <a:t> </a:t>
            </a:r>
          </a:p>
          <a:p>
            <a:pPr lvl="2"/>
            <a:r>
              <a:rPr lang="de-DE" dirty="0"/>
              <a:t>Simple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describable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2"/>
            <a:r>
              <a:rPr lang="de-DE" dirty="0"/>
              <a:t>Relaxed Lasso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(5)</a:t>
            </a:r>
          </a:p>
          <a:p>
            <a:r>
              <a:rPr lang="de-DE" dirty="0" err="1"/>
              <a:t>Assessing</a:t>
            </a:r>
            <a:r>
              <a:rPr lang="de-DE" dirty="0"/>
              <a:t> </a:t>
            </a:r>
            <a:r>
              <a:rPr lang="de-DE" dirty="0" err="1"/>
              <a:t>apparent</a:t>
            </a:r>
            <a:r>
              <a:rPr lang="de-DE" dirty="0"/>
              <a:t> </a:t>
            </a:r>
            <a:r>
              <a:rPr lang="de-DE" dirty="0" err="1"/>
              <a:t>validity</a:t>
            </a:r>
            <a:endParaRPr lang="de-DE" dirty="0"/>
          </a:p>
          <a:p>
            <a:pPr lvl="1"/>
            <a:r>
              <a:rPr lang="de-DE" dirty="0"/>
              <a:t>Overall (</a:t>
            </a:r>
            <a:r>
              <a:rPr lang="de-DE" dirty="0" err="1"/>
              <a:t>local</a:t>
            </a:r>
            <a:r>
              <a:rPr lang="de-DE" dirty="0"/>
              <a:t>) </a:t>
            </a:r>
            <a:r>
              <a:rPr lang="de-DE" dirty="0" err="1"/>
              <a:t>calibration</a:t>
            </a:r>
            <a:r>
              <a:rPr lang="de-DE" dirty="0"/>
              <a:t>: </a:t>
            </a:r>
            <a:r>
              <a:rPr lang="de-DE" dirty="0" err="1"/>
              <a:t>residuals</a:t>
            </a:r>
            <a:r>
              <a:rPr lang="de-DE" dirty="0"/>
              <a:t> vs. linear </a:t>
            </a:r>
            <a:r>
              <a:rPr lang="de-DE" dirty="0" err="1"/>
              <a:t>predictor</a:t>
            </a:r>
            <a:endParaRPr lang="de-DE" dirty="0"/>
          </a:p>
          <a:p>
            <a:pPr lvl="1"/>
            <a:r>
              <a:rPr lang="de-DE" dirty="0" err="1"/>
              <a:t>Validity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linearity</a:t>
            </a:r>
            <a:r>
              <a:rPr lang="de-DE" dirty="0"/>
              <a:t> </a:t>
            </a:r>
            <a:r>
              <a:rPr lang="de-DE" dirty="0" err="1"/>
              <a:t>assumption</a:t>
            </a:r>
            <a:r>
              <a:rPr lang="de-DE" dirty="0"/>
              <a:t>: </a:t>
            </a:r>
            <a:r>
              <a:rPr lang="de-DE" dirty="0" err="1"/>
              <a:t>residuals</a:t>
            </a:r>
            <a:r>
              <a:rPr lang="de-DE" dirty="0"/>
              <a:t> vs. </a:t>
            </a:r>
            <a:r>
              <a:rPr lang="de-DE" dirty="0" err="1"/>
              <a:t>included</a:t>
            </a:r>
            <a:r>
              <a:rPr lang="de-DE" dirty="0"/>
              <a:t> </a:t>
            </a:r>
            <a:r>
              <a:rPr lang="de-DE" dirty="0" err="1"/>
              <a:t>predictors</a:t>
            </a:r>
            <a:endParaRPr lang="de-DE" dirty="0"/>
          </a:p>
          <a:p>
            <a:pPr lvl="1"/>
            <a:r>
              <a:rPr lang="de-DE" dirty="0"/>
              <a:t>Independence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residuals</a:t>
            </a:r>
            <a:r>
              <a:rPr lang="de-DE" dirty="0"/>
              <a:t>: </a:t>
            </a:r>
            <a:r>
              <a:rPr lang="de-DE" dirty="0" err="1"/>
              <a:t>residuals</a:t>
            </a:r>
            <a:r>
              <a:rPr lang="de-DE" dirty="0"/>
              <a:t> vs. </a:t>
            </a:r>
            <a:r>
              <a:rPr lang="de-DE" dirty="0" err="1"/>
              <a:t>excluded</a:t>
            </a:r>
            <a:r>
              <a:rPr lang="de-DE" dirty="0"/>
              <a:t> </a:t>
            </a:r>
            <a:r>
              <a:rPr lang="de-DE" dirty="0" err="1"/>
              <a:t>predictors</a:t>
            </a:r>
            <a:endParaRPr lang="de-DE" dirty="0"/>
          </a:p>
          <a:p>
            <a:pPr lvl="1"/>
            <a:r>
              <a:rPr lang="de-DE" dirty="0"/>
              <a:t>Distributional </a:t>
            </a:r>
            <a:r>
              <a:rPr lang="de-DE" dirty="0" err="1"/>
              <a:t>assumption</a:t>
            </a:r>
            <a:r>
              <a:rPr lang="de-DE" dirty="0"/>
              <a:t>: </a:t>
            </a:r>
            <a:r>
              <a:rPr lang="de-DE" dirty="0" err="1"/>
              <a:t>normality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residuals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8476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description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11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de-DE" dirty="0"/>
                  <a:t>Model </a:t>
                </a:r>
                <a:r>
                  <a:rPr lang="de-DE" dirty="0" err="1"/>
                  <a:t>should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‚</a:t>
                </a:r>
                <a:r>
                  <a:rPr lang="de-DE" dirty="0" err="1"/>
                  <a:t>describable</a:t>
                </a:r>
                <a:r>
                  <a:rPr lang="de-DE" dirty="0"/>
                  <a:t>‘ (</a:t>
                </a:r>
                <a:r>
                  <a:rPr lang="de-DE" dirty="0" err="1"/>
                  <a:t>some</a:t>
                </a:r>
                <a:r>
                  <a:rPr lang="de-DE" dirty="0"/>
                  <a:t> </a:t>
                </a:r>
                <a:r>
                  <a:rPr lang="de-DE" dirty="0" err="1"/>
                  <a:t>call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‚</a:t>
                </a:r>
                <a:r>
                  <a:rPr lang="de-DE" dirty="0" err="1"/>
                  <a:t>explainable</a:t>
                </a:r>
                <a:r>
                  <a:rPr lang="de-DE" dirty="0"/>
                  <a:t>‘:</a:t>
                </a:r>
              </a:p>
              <a:p>
                <a:pPr lvl="1"/>
                <a:r>
                  <a:rPr lang="de-DE" dirty="0"/>
                  <a:t>Regression </a:t>
                </a:r>
                <a:r>
                  <a:rPr lang="de-DE" dirty="0" err="1"/>
                  <a:t>coefficients</a:t>
                </a:r>
                <a:endParaRPr lang="de-DE" dirty="0"/>
              </a:p>
              <a:p>
                <a:pPr lvl="1"/>
                <a:r>
                  <a:rPr lang="de-DE" dirty="0" err="1"/>
                  <a:t>Standardized</a:t>
                </a:r>
                <a:r>
                  <a:rPr lang="de-DE" dirty="0"/>
                  <a:t> </a:t>
                </a:r>
                <a:r>
                  <a:rPr lang="de-DE" dirty="0" err="1"/>
                  <a:t>regression</a:t>
                </a:r>
                <a:r>
                  <a:rPr lang="de-DE" dirty="0"/>
                  <a:t> </a:t>
                </a:r>
                <a:r>
                  <a:rPr lang="de-DE" dirty="0" err="1"/>
                  <a:t>coefficients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de-AT" dirty="0"/>
                  <a:t>%</a:t>
                </a:r>
                <a:r>
                  <a:rPr lang="de-AT" dirty="0" err="1"/>
                  <a:t>bodyfat</a:t>
                </a:r>
                <a:r>
                  <a:rPr lang="de-AT" dirty="0"/>
                  <a:t> per SD(x))</a:t>
                </a:r>
              </a:p>
              <a:p>
                <a:pPr lvl="1"/>
                <a:r>
                  <a:rPr lang="de-DE" dirty="0"/>
                  <a:t>Drop-in-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e-AT" dirty="0"/>
              </a:p>
              <a:p>
                <a:r>
                  <a:rPr lang="de-DE" dirty="0"/>
                  <a:t>Model </a:t>
                </a:r>
                <a:r>
                  <a:rPr lang="de-DE" dirty="0" err="1"/>
                  <a:t>stability</a:t>
                </a:r>
                <a:r>
                  <a:rPr lang="de-DE" dirty="0"/>
                  <a:t> (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bootstrap</a:t>
                </a:r>
                <a:r>
                  <a:rPr lang="de-DE" dirty="0"/>
                  <a:t>):</a:t>
                </a:r>
              </a:p>
              <a:p>
                <a:pPr lvl="1"/>
                <a:r>
                  <a:rPr lang="de-DE" dirty="0" err="1"/>
                  <a:t>Selection</a:t>
                </a:r>
                <a:r>
                  <a:rPr lang="de-DE" dirty="0"/>
                  <a:t> </a:t>
                </a:r>
                <a:r>
                  <a:rPr lang="de-DE" dirty="0" err="1"/>
                  <a:t>probabilities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predictor</a:t>
                </a:r>
                <a:endParaRPr lang="de-DE" dirty="0"/>
              </a:p>
              <a:p>
                <a:pPr lvl="1"/>
                <a:r>
                  <a:rPr lang="de-DE" dirty="0" err="1"/>
                  <a:t>Variability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predicted</a:t>
                </a:r>
                <a:r>
                  <a:rPr lang="de-DE" dirty="0"/>
                  <a:t> </a:t>
                </a:r>
                <a:r>
                  <a:rPr lang="de-DE" dirty="0" err="1"/>
                  <a:t>probabilities</a:t>
                </a:r>
                <a:r>
                  <a:rPr lang="de-DE" dirty="0"/>
                  <a:t> (</a:t>
                </a:r>
                <a:r>
                  <a:rPr lang="de-DE" dirty="0" err="1"/>
                  <a:t>prediction</a:t>
                </a:r>
                <a:r>
                  <a:rPr lang="de-DE" dirty="0"/>
                  <a:t> </a:t>
                </a:r>
                <a:r>
                  <a:rPr lang="de-DE" dirty="0" err="1"/>
                  <a:t>stability</a:t>
                </a:r>
                <a:r>
                  <a:rPr lang="de-DE" dirty="0"/>
                  <a:t> </a:t>
                </a:r>
                <a:r>
                  <a:rPr lang="de-DE" dirty="0" err="1"/>
                  <a:t>plot</a:t>
                </a:r>
                <a:r>
                  <a:rPr lang="de-DE" dirty="0"/>
                  <a:t>, Riley &amp; Collins 2023)</a:t>
                </a:r>
              </a:p>
              <a:p>
                <a:pPr lvl="1"/>
                <a:r>
                  <a:rPr lang="de-DE" dirty="0" err="1"/>
                  <a:t>Probability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selecting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final </a:t>
                </a:r>
                <a:r>
                  <a:rPr lang="de-DE" dirty="0" err="1"/>
                  <a:t>set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predictors</a:t>
                </a:r>
                <a:endParaRPr lang="de-DE" dirty="0"/>
              </a:p>
              <a:p>
                <a:pPr lvl="1"/>
                <a:endParaRPr lang="de-AT" dirty="0"/>
              </a:p>
              <a:p>
                <a:pPr lvl="1"/>
                <a:endParaRPr lang="de-AT" dirty="0"/>
              </a:p>
            </p:txBody>
          </p:sp>
        </mc:Choice>
        <mc:Fallback xmlns="">
          <p:sp>
            <p:nvSpPr>
              <p:cNvPr id="6" name="Inhaltsplatzhalt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38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013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reenshot, Schrift, Diagramm enthält.&#10;&#10;KI-generierte Inhalte können fehlerhaft sein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62" y="1793099"/>
            <a:ext cx="6540576" cy="364472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preparation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12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 err="1"/>
              <a:t>From</a:t>
            </a:r>
            <a:r>
              <a:rPr lang="de-DE" dirty="0"/>
              <a:t> Schmidt, Klinger, Sauerbrei, Heinze (2025), </a:t>
            </a:r>
            <a:r>
              <a:rPr lang="de-DE" dirty="0" err="1"/>
              <a:t>Biometric</a:t>
            </a:r>
            <a:r>
              <a:rPr lang="de-DE" dirty="0"/>
              <a:t> Bulletin 42(2) </a:t>
            </a:r>
            <a:br>
              <a:rPr lang="de-DE" dirty="0"/>
            </a:br>
            <a:r>
              <a:rPr lang="de-DE" dirty="0"/>
              <a:t>(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issue</a:t>
            </a:r>
            <a:r>
              <a:rPr lang="de-DE" dirty="0"/>
              <a:t>):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in-</a:t>
            </a:r>
            <a:r>
              <a:rPr lang="de-DE" dirty="0" err="1"/>
              <a:t>built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errors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corrected</a:t>
            </a:r>
            <a:endParaRPr lang="de-DE" dirty="0"/>
          </a:p>
          <a:p>
            <a:r>
              <a:rPr lang="de-DE" dirty="0" err="1"/>
              <a:t>Some</a:t>
            </a:r>
            <a:r>
              <a:rPr lang="de-DE" dirty="0"/>
              <a:t> variables </a:t>
            </a:r>
            <a:r>
              <a:rPr lang="de-DE" dirty="0" err="1"/>
              <a:t>have</a:t>
            </a:r>
            <a:r>
              <a:rPr lang="de-DE" dirty="0"/>
              <a:t> different </a:t>
            </a:r>
            <a:r>
              <a:rPr lang="de-DE" dirty="0" err="1"/>
              <a:t>names</a:t>
            </a:r>
            <a:r>
              <a:rPr lang="de-DE" dirty="0"/>
              <a:t>,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somewhat</a:t>
            </a:r>
            <a:r>
              <a:rPr lang="de-DE" dirty="0"/>
              <a:t> different </a:t>
            </a:r>
            <a:r>
              <a:rPr lang="de-DE" dirty="0" err="1"/>
              <a:t>definitions</a:t>
            </a:r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1036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23" y="2402447"/>
            <a:ext cx="4621123" cy="318044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preparation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13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errors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corrected</a:t>
            </a:r>
            <a:r>
              <a:rPr lang="de-DE" dirty="0"/>
              <a:t> (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NA)</a:t>
            </a:r>
          </a:p>
          <a:p>
            <a:r>
              <a:rPr lang="de-DE" dirty="0"/>
              <a:t>Data </a:t>
            </a:r>
            <a:r>
              <a:rPr lang="de-DE" dirty="0" err="1"/>
              <a:t>sets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harmonized</a:t>
            </a:r>
            <a:endParaRPr lang="de-DE" dirty="0"/>
          </a:p>
          <a:p>
            <a:r>
              <a:rPr lang="de-DE" dirty="0"/>
              <a:t>IDA was </a:t>
            </a:r>
            <a:r>
              <a:rPr lang="de-DE" dirty="0" err="1"/>
              <a:t>performed</a:t>
            </a:r>
            <a:endParaRPr lang="de-DE" dirty="0"/>
          </a:p>
          <a:p>
            <a:pPr marL="263525" lvl="1" indent="0">
              <a:buNone/>
            </a:pPr>
            <a:endParaRPr lang="de-AT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689" y="2499858"/>
            <a:ext cx="4421905" cy="308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28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Statistical Analysis Plan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14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a SAP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SAPI </a:t>
            </a:r>
            <a:r>
              <a:rPr lang="de-DE" dirty="0" err="1"/>
              <a:t>guideline</a:t>
            </a:r>
            <a:r>
              <a:rPr lang="de-DE" dirty="0"/>
              <a:t> (</a:t>
            </a:r>
            <a:r>
              <a:rPr lang="de-DE" dirty="0" err="1"/>
              <a:t>currently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development</a:t>
            </a:r>
            <a:r>
              <a:rPr lang="de-DE" dirty="0"/>
              <a:t>, </a:t>
            </a:r>
            <a:r>
              <a:rPr lang="de-DE" dirty="0" err="1"/>
              <a:t>see</a:t>
            </a:r>
            <a:br>
              <a:rPr lang="de-DE" dirty="0"/>
            </a:br>
            <a:r>
              <a:rPr lang="de-DE" dirty="0">
                <a:hlinkClick r:id="rId2"/>
              </a:rPr>
              <a:t>https://osf.io/zfjah/</a:t>
            </a:r>
            <a:endParaRPr lang="de-DE" dirty="0"/>
          </a:p>
          <a:p>
            <a:r>
              <a:rPr lang="de-DE" dirty="0"/>
              <a:t>The SAP </a:t>
            </a:r>
            <a:r>
              <a:rPr lang="de-DE" dirty="0" err="1"/>
              <a:t>integrates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analysis</a:t>
            </a:r>
            <a:br>
              <a:rPr lang="de-DE" dirty="0"/>
            </a:b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robustness</a:t>
            </a:r>
            <a:r>
              <a:rPr lang="de-DE" dirty="0"/>
              <a:t> check</a:t>
            </a:r>
          </a:p>
          <a:p>
            <a:r>
              <a:rPr lang="de-DE" dirty="0" err="1"/>
              <a:t>Analyses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in </a:t>
            </a:r>
            <a:r>
              <a:rPr lang="de-DE" dirty="0" err="1"/>
              <a:t>our</a:t>
            </a:r>
            <a:br>
              <a:rPr lang="de-DE" dirty="0"/>
            </a:b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GitHub</a:t>
            </a:r>
            <a:r>
              <a:rPr lang="de-DE" dirty="0"/>
              <a:t> </a:t>
            </a:r>
            <a:r>
              <a:rPr lang="de-DE" dirty="0" err="1"/>
              <a:t>repository</a:t>
            </a:r>
            <a:endParaRPr lang="de-AT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882" y="51881"/>
            <a:ext cx="6152048" cy="614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15</a:t>
            </a:fld>
            <a:endParaRPr lang="de-DE"/>
          </a:p>
        </p:txBody>
      </p:sp>
      <p:pic>
        <p:nvPicPr>
          <p:cNvPr id="7" name="Inhaltsplatzhalter 6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56909" y="1000009"/>
            <a:ext cx="7269804" cy="496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09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diagnostics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16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337125"/>
            <a:ext cx="3561058" cy="2489227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22" y="1337125"/>
            <a:ext cx="3529105" cy="2489227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158" y="1337125"/>
            <a:ext cx="3649909" cy="255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24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Residuals</a:t>
            </a:r>
            <a:r>
              <a:rPr lang="de-DE" dirty="0"/>
              <a:t> vs. </a:t>
            </a:r>
            <a:r>
              <a:rPr lang="de-DE" dirty="0" err="1"/>
              <a:t>excluded</a:t>
            </a:r>
            <a:r>
              <a:rPr lang="de-DE" dirty="0"/>
              <a:t> </a:t>
            </a:r>
            <a:r>
              <a:rPr lang="de-DE" dirty="0" err="1"/>
              <a:t>predictors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17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residuals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included</a:t>
            </a:r>
            <a:r>
              <a:rPr lang="de-DE" dirty="0"/>
              <a:t> </a:t>
            </a:r>
            <a:r>
              <a:rPr lang="de-DE" dirty="0" err="1"/>
              <a:t>predictors</a:t>
            </a:r>
            <a:r>
              <a:rPr lang="de-DE" dirty="0"/>
              <a:t> </a:t>
            </a:r>
            <a:r>
              <a:rPr lang="de-DE" dirty="0" err="1"/>
              <a:t>plots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not </a:t>
            </a:r>
            <a:r>
              <a:rPr lang="de-DE" dirty="0" err="1"/>
              <a:t>indicate</a:t>
            </a:r>
            <a:r>
              <a:rPr lang="de-DE" dirty="0"/>
              <a:t> </a:t>
            </a:r>
            <a:r>
              <a:rPr lang="de-DE" dirty="0" err="1"/>
              <a:t>major</a:t>
            </a:r>
            <a:r>
              <a:rPr lang="de-DE" dirty="0"/>
              <a:t> </a:t>
            </a:r>
            <a:r>
              <a:rPr lang="de-DE" dirty="0" err="1"/>
              <a:t>problems</a:t>
            </a:r>
            <a:r>
              <a:rPr lang="de-DE" dirty="0"/>
              <a:t>.</a:t>
            </a:r>
          </a:p>
          <a:p>
            <a:r>
              <a:rPr lang="de-DE" dirty="0" err="1"/>
              <a:t>We</a:t>
            </a:r>
            <a:r>
              <a:rPr lang="de-DE" dirty="0"/>
              <a:t> also </a:t>
            </a:r>
            <a:r>
              <a:rPr lang="de-DE" dirty="0" err="1"/>
              <a:t>assessed</a:t>
            </a:r>
            <a:r>
              <a:rPr lang="de-DE" dirty="0"/>
              <a:t> </a:t>
            </a:r>
            <a:r>
              <a:rPr lang="de-DE" dirty="0" err="1"/>
              <a:t>residuals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top-3 </a:t>
            </a:r>
            <a:r>
              <a:rPr lang="de-DE" dirty="0" err="1"/>
              <a:t>excluded</a:t>
            </a:r>
            <a:r>
              <a:rPr lang="de-DE" dirty="0"/>
              <a:t> </a:t>
            </a:r>
            <a:r>
              <a:rPr lang="de-DE" dirty="0" err="1"/>
              <a:t>predictors</a:t>
            </a:r>
            <a:br>
              <a:rPr lang="de-DE" dirty="0"/>
            </a:br>
            <a:r>
              <a:rPr lang="de-DE" dirty="0"/>
              <a:t>(</a:t>
            </a:r>
            <a:r>
              <a:rPr lang="de-DE" dirty="0" err="1"/>
              <a:t>if</a:t>
            </a:r>
            <a:r>
              <a:rPr lang="de-DE" dirty="0"/>
              <a:t> Lasso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extended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8 variables):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These variables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likely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‚</a:t>
            </a:r>
            <a:r>
              <a:rPr lang="de-DE" dirty="0" err="1"/>
              <a:t>next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included</a:t>
            </a:r>
            <a:r>
              <a:rPr lang="de-DE" dirty="0"/>
              <a:t>‘</a:t>
            </a:r>
            <a:endParaRPr lang="de-AT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8" y="2811981"/>
            <a:ext cx="3283858" cy="231769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296" y="2803393"/>
            <a:ext cx="3422963" cy="232628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008" y="2843671"/>
            <a:ext cx="3264559" cy="228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44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instability</a:t>
            </a:r>
            <a:r>
              <a:rPr lang="de-DE" dirty="0"/>
              <a:t> </a:t>
            </a:r>
            <a:r>
              <a:rPr lang="de-DE" dirty="0" err="1"/>
              <a:t>plot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18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Bootstrap RMSE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fitted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0.823</a:t>
            </a:r>
          </a:p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RMSE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fitted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:</a:t>
            </a:r>
            <a:br>
              <a:rPr lang="de-AT" dirty="0"/>
            </a:br>
            <a:r>
              <a:rPr lang="de-AT" dirty="0"/>
              <a:t>0.640</a:t>
            </a:r>
          </a:p>
          <a:p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 Variable </a:t>
            </a:r>
            <a:r>
              <a:rPr lang="de-DE" dirty="0" err="1">
                <a:sym typeface="Wingdings" panose="05000000000000000000" pitchFamily="2" charset="2"/>
              </a:rPr>
              <a:t>selection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produced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‚</a:t>
            </a:r>
            <a:r>
              <a:rPr lang="de-DE" dirty="0" err="1">
                <a:sym typeface="Wingdings" panose="05000000000000000000" pitchFamily="2" charset="2"/>
              </a:rPr>
              <a:t>unnoticed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uncertainty</a:t>
            </a:r>
            <a:r>
              <a:rPr lang="de-DE" dirty="0">
                <a:sym typeface="Wingdings" panose="05000000000000000000" pitchFamily="2" charset="2"/>
              </a:rPr>
              <a:t>‘!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795" y="960376"/>
            <a:ext cx="6847293" cy="44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77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validation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19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 err="1"/>
              <a:t>Apparent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validation</a:t>
            </a:r>
            <a:r>
              <a:rPr lang="de-DE" dirty="0"/>
              <a:t> in </a:t>
            </a:r>
            <a:r>
              <a:rPr lang="de-DE" dirty="0" err="1"/>
              <a:t>men</a:t>
            </a:r>
            <a:r>
              <a:rPr lang="de-DE" dirty="0"/>
              <a:t>:</a:t>
            </a:r>
            <a:endParaRPr lang="de-AT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49" y="1781648"/>
            <a:ext cx="7946779" cy="177986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06" y="4388095"/>
            <a:ext cx="7881463" cy="109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49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went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? </a:t>
            </a:r>
            <a:r>
              <a:rPr lang="de-DE" dirty="0" err="1"/>
              <a:t>Calibration</a:t>
            </a:r>
            <a:r>
              <a:rPr lang="de-DE" dirty="0"/>
              <a:t> </a:t>
            </a:r>
            <a:r>
              <a:rPr lang="de-DE" dirty="0" err="1"/>
              <a:t>plot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rescue</a:t>
            </a:r>
            <a:r>
              <a:rPr lang="de-DE" dirty="0"/>
              <a:t>!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20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 err="1"/>
              <a:t>Calibration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revealed</a:t>
            </a:r>
            <a:r>
              <a:rPr lang="de-DE" dirty="0"/>
              <a:t> </a:t>
            </a:r>
            <a:r>
              <a:rPr lang="de-DE" dirty="0" err="1"/>
              <a:t>that</a:t>
            </a:r>
            <a:br>
              <a:rPr lang="de-DE" dirty="0"/>
            </a:br>
            <a:r>
              <a:rPr lang="de-DE" dirty="0" err="1"/>
              <a:t>bodyfat</a:t>
            </a:r>
            <a:r>
              <a:rPr lang="de-DE" dirty="0"/>
              <a:t>%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overpredicted</a:t>
            </a:r>
            <a:r>
              <a:rPr lang="de-DE" dirty="0"/>
              <a:t> 11.9%-points</a:t>
            </a:r>
          </a:p>
          <a:p>
            <a:r>
              <a:rPr lang="de-DE" dirty="0"/>
              <a:t>But </a:t>
            </a:r>
            <a:r>
              <a:rPr lang="de-DE" dirty="0" err="1"/>
              <a:t>Calibration</a:t>
            </a:r>
            <a:r>
              <a:rPr lang="de-DE" dirty="0"/>
              <a:t> </a:t>
            </a:r>
            <a:r>
              <a:rPr lang="de-DE" dirty="0" err="1"/>
              <a:t>slope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almost</a:t>
            </a:r>
            <a:r>
              <a:rPr lang="de-DE" dirty="0"/>
              <a:t> ideal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The same </a:t>
            </a:r>
            <a:r>
              <a:rPr lang="de-DE" dirty="0" err="1"/>
              <a:t>formula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women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men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but </a:t>
            </a:r>
            <a:r>
              <a:rPr lang="de-DE" dirty="0" err="1"/>
              <a:t>intercept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recalibrated</a:t>
            </a:r>
            <a:br>
              <a:rPr lang="de-DE" dirty="0"/>
            </a:br>
            <a:endParaRPr lang="de-AT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903" y="1284530"/>
            <a:ext cx="5946185" cy="394418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74" y="3035122"/>
            <a:ext cx="5996462" cy="194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02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Two-Stage Strategy in </a:t>
            </a:r>
            <a:r>
              <a:rPr lang="de-DE" b="1" dirty="0" err="1"/>
              <a:t>Prediction</a:t>
            </a:r>
            <a:r>
              <a:rPr lang="de-DE" b="1" dirty="0"/>
              <a:t> </a:t>
            </a:r>
            <a:r>
              <a:rPr lang="en-US" b="1" dirty="0"/>
              <a:t>and feature selection (R-package</a:t>
            </a:r>
            <a:r>
              <a:rPr lang="en-US" dirty="0"/>
              <a:t> </a:t>
            </a:r>
            <a:r>
              <a:rPr lang="en-US" b="1" dirty="0" err="1"/>
              <a:t>projpred</a:t>
            </a:r>
            <a:r>
              <a:rPr lang="en-US" b="1" dirty="0"/>
              <a:t>)</a:t>
            </a:r>
            <a:br>
              <a:rPr lang="en-US" b="1" dirty="0"/>
            </a:b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21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Many traditional approaches attempt to solve prediction and feature selection simultaneously.  R-package </a:t>
            </a:r>
            <a:r>
              <a:rPr lang="en-US" sz="1800" dirty="0" err="1">
                <a:latin typeface="Bahnschrift Light" panose="020B0502040204020203" pitchFamily="34" charset="0"/>
              </a:rPr>
              <a:t>projpred</a:t>
            </a:r>
            <a:r>
              <a:rPr lang="en-US" sz="1800" dirty="0"/>
              <a:t> proposes a decision theoretic two-stage approach:</a:t>
            </a:r>
          </a:p>
          <a:p>
            <a:r>
              <a:rPr lang="en-US" sz="1800" u="sng" dirty="0"/>
              <a:t>Stage 1: Researcher builds a Reference Model </a:t>
            </a:r>
          </a:p>
          <a:p>
            <a:pPr marL="0" indent="0">
              <a:buNone/>
            </a:pPr>
            <a:r>
              <a:rPr lang="en-US" sz="1800" dirty="0"/>
              <a:t>- Fit the best possible predictive model using all relevant features  -&gt; validate this model </a:t>
            </a:r>
          </a:p>
          <a:p>
            <a:pPr marL="0" indent="0">
              <a:buNone/>
            </a:pPr>
            <a:r>
              <a:rPr lang="en-US" sz="1800" dirty="0"/>
              <a:t>- This model serves as the reference for later comparisons</a:t>
            </a:r>
          </a:p>
          <a:p>
            <a:r>
              <a:rPr lang="en-US" sz="1800" u="sng" dirty="0"/>
              <a:t>Stage 2: Algorithm finds a Minimal Subset of Features that Characterize the Predictions (Predictive Projection)</a:t>
            </a:r>
          </a:p>
          <a:p>
            <a:pPr marL="0" indent="0">
              <a:buNone/>
            </a:pPr>
            <a:r>
              <a:rPr lang="en-US" sz="1800" dirty="0"/>
              <a:t>- Select the model with the smallest predictive discrepancy to the reference  (final model)</a:t>
            </a:r>
          </a:p>
          <a:p>
            <a:pPr marL="0" indent="0">
              <a:buNone/>
            </a:pPr>
            <a:r>
              <a:rPr lang="en-US" sz="1800" dirty="0"/>
              <a:t>- For each level of complexity (number of features), finds the best-performing subset</a:t>
            </a:r>
          </a:p>
          <a:p>
            <a:pPr marL="0" indent="0">
              <a:buNone/>
            </a:pPr>
            <a:endParaRPr lang="en-US" sz="1700" dirty="0"/>
          </a:p>
          <a:p>
            <a:pPr>
              <a:buFontTx/>
              <a:buChar char="-"/>
            </a:pPr>
            <a:endParaRPr lang="en-US" sz="1700" dirty="0"/>
          </a:p>
          <a:p>
            <a:pPr>
              <a:buFontTx/>
              <a:buChar char="-"/>
            </a:pPr>
            <a:endParaRPr lang="de-AT" sz="1700" dirty="0"/>
          </a:p>
        </p:txBody>
      </p:sp>
    </p:spTree>
    <p:extLst>
      <p:ext uri="{BB962C8B-B14F-4D97-AF65-F5344CB8AC3E}">
        <p14:creationId xmlns:p14="http://schemas.microsoft.com/office/powerpoint/2010/main" val="3530964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Predictive Projection – Motivation for Robustness Analysis: Why this approach?</a:t>
            </a:r>
            <a:r>
              <a:rPr lang="en-US" dirty="0"/>
              <a:t> </a:t>
            </a:r>
            <a:br>
              <a:rPr lang="en-US" b="1" dirty="0"/>
            </a:b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22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First, it targets the statistical focus of this case study: balancing predictive power and model simplicity via feature selection. Second, </a:t>
            </a:r>
            <a:r>
              <a:rPr lang="en-US" sz="1800" b="1" dirty="0" err="1"/>
              <a:t>projpred</a:t>
            </a:r>
            <a:r>
              <a:rPr lang="en-US" sz="1800" b="1" dirty="0"/>
              <a:t> offers LOO-L1 strategy using elastic net </a:t>
            </a:r>
            <a:r>
              <a:rPr lang="en-US" sz="1800" b="1"/>
              <a:t>with relaxation- closely </a:t>
            </a:r>
            <a:r>
              <a:rPr lang="en-US" sz="1800" b="1" dirty="0"/>
              <a:t>aligned with relaxed Lasso and the original analysis. See: </a:t>
            </a:r>
            <a:r>
              <a:rPr lang="en-US" sz="1800" b="1" dirty="0" err="1"/>
              <a:t>Piironen</a:t>
            </a:r>
            <a:r>
              <a:rPr lang="en-US" sz="1800" b="1" dirty="0"/>
              <a:t> et al. (2020), </a:t>
            </a:r>
            <a:r>
              <a:rPr lang="en-US" sz="1800" b="1" i="1" dirty="0"/>
              <a:t>Projective Inference in High-Dimensional Problems</a:t>
            </a:r>
            <a:r>
              <a:rPr lang="en-US" sz="1800" b="1" dirty="0"/>
              <a:t>.</a:t>
            </a:r>
          </a:p>
          <a:p>
            <a:pPr marL="0" indent="0">
              <a:buNone/>
            </a:pPr>
            <a:r>
              <a:rPr lang="en-US" sz="1700" dirty="0"/>
              <a:t>Key Advantages: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700" u="sng" dirty="0"/>
              <a:t>Clean separation of selection and validation:</a:t>
            </a:r>
            <a:r>
              <a:rPr lang="en-US" sz="1700" dirty="0"/>
              <a:t> Selection on training data only; evaluation on validation data only → Prevents selection-induced bias (automatically handled by </a:t>
            </a:r>
            <a:r>
              <a:rPr lang="en-US" sz="1700" dirty="0" err="1">
                <a:latin typeface="Bahnschrift Light" panose="020B0502040204020203" pitchFamily="34" charset="0"/>
              </a:rPr>
              <a:t>cv_varsel</a:t>
            </a:r>
            <a:r>
              <a:rPr lang="en-US" sz="1700" dirty="0">
                <a:latin typeface="Bahnschrift Light" panose="020B0502040204020203" pitchFamily="34" charset="0"/>
              </a:rPr>
              <a:t>(), </a:t>
            </a:r>
            <a:r>
              <a:rPr lang="en-US" sz="1700" dirty="0"/>
              <a:t>based on </a:t>
            </a:r>
            <a:r>
              <a:rPr lang="en-US" sz="1700" b="1" dirty="0"/>
              <a:t>relative cross-validated pointwise utilities </a:t>
            </a:r>
            <a:r>
              <a:rPr lang="en-US" sz="1700" dirty="0"/>
              <a:t>computed exclusively on validation data) → aggregated over folds, thus one mean utility for a given complexity (number of features)</a:t>
            </a:r>
            <a:endParaRPr lang="de-AT" sz="1700" dirty="0"/>
          </a:p>
          <a:p>
            <a:pPr marL="457200" indent="-457200">
              <a:buFont typeface="+mj-lt"/>
              <a:buAutoNum type="arabicPeriod"/>
            </a:pPr>
            <a:r>
              <a:rPr lang="en-US" sz="1700" u="sng" dirty="0"/>
              <a:t>Post-selection inference:</a:t>
            </a:r>
            <a:r>
              <a:rPr lang="en-US" sz="1700" dirty="0"/>
              <a:t> Accounts directly for variable selection uncertainty via the reference model →  the projected posterior for the final </a:t>
            </a:r>
            <a:r>
              <a:rPr lang="en-US" sz="1700" dirty="0" err="1"/>
              <a:t>submodel</a:t>
            </a:r>
            <a:r>
              <a:rPr lang="en-US" sz="1700" dirty="0"/>
              <a:t> retains uncertainty from the reference model’s posterior.</a:t>
            </a:r>
          </a:p>
        </p:txBody>
      </p:sp>
    </p:spTree>
    <p:extLst>
      <p:ext uri="{BB962C8B-B14F-4D97-AF65-F5344CB8AC3E}">
        <p14:creationId xmlns:p14="http://schemas.microsoft.com/office/powerpoint/2010/main" val="2009566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Robustness Analysis – Comparison with Original Study</a:t>
            </a:r>
            <a:br>
              <a:rPr lang="en-US" b="1" dirty="0"/>
            </a:b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23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b="1" dirty="0"/>
              <a:t>Consistency </a:t>
            </a:r>
            <a:r>
              <a:rPr lang="de-DE" b="1" dirty="0" err="1"/>
              <a:t>with</a:t>
            </a:r>
            <a:r>
              <a:rPr lang="de-DE" b="1" dirty="0"/>
              <a:t> Original Study:</a:t>
            </a:r>
            <a:endParaRPr lang="de-DE" dirty="0"/>
          </a:p>
          <a:p>
            <a:r>
              <a:rPr lang="de-DE" dirty="0"/>
              <a:t>Same </a:t>
            </a:r>
            <a:r>
              <a:rPr lang="de-DE" dirty="0" err="1"/>
              <a:t>key</a:t>
            </a:r>
            <a:r>
              <a:rPr lang="de-DE" dirty="0"/>
              <a:t> variables </a:t>
            </a:r>
            <a:r>
              <a:rPr lang="de-DE" dirty="0" err="1"/>
              <a:t>selected</a:t>
            </a:r>
            <a:r>
              <a:rPr lang="de-DE" dirty="0"/>
              <a:t>: </a:t>
            </a:r>
            <a:r>
              <a:rPr lang="de-DE" i="1" dirty="0"/>
              <a:t>BMI</a:t>
            </a:r>
            <a:r>
              <a:rPr lang="de-DE" dirty="0"/>
              <a:t>, </a:t>
            </a:r>
            <a:r>
              <a:rPr lang="de-DE" i="1" dirty="0" err="1"/>
              <a:t>Waist</a:t>
            </a:r>
            <a:r>
              <a:rPr lang="de-DE" dirty="0"/>
              <a:t>, </a:t>
            </a:r>
            <a:r>
              <a:rPr lang="de-DE" i="1" dirty="0" err="1"/>
              <a:t>Hips</a:t>
            </a:r>
            <a:r>
              <a:rPr lang="de-DE" dirty="0"/>
              <a:t>, </a:t>
            </a:r>
            <a:r>
              <a:rPr lang="de-DE" i="1" dirty="0" err="1"/>
              <a:t>Knee</a:t>
            </a:r>
            <a:r>
              <a:rPr lang="de-DE" dirty="0"/>
              <a:t>, </a:t>
            </a:r>
            <a:r>
              <a:rPr lang="de-DE" i="1" dirty="0" err="1"/>
              <a:t>Biceps</a:t>
            </a:r>
            <a:endParaRPr lang="de-DE" dirty="0"/>
          </a:p>
          <a:p>
            <a:r>
              <a:rPr lang="de-DE" dirty="0"/>
              <a:t>Final </a:t>
            </a:r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coefficient</a:t>
            </a:r>
            <a:r>
              <a:rPr lang="de-DE" dirty="0"/>
              <a:t> </a:t>
            </a:r>
            <a:r>
              <a:rPr lang="de-DE" dirty="0" err="1"/>
              <a:t>estimates</a:t>
            </a:r>
            <a:r>
              <a:rPr lang="de-DE" dirty="0"/>
              <a:t> and </a:t>
            </a:r>
            <a:r>
              <a:rPr lang="de-DE" dirty="0" err="1"/>
              <a:t>uncertainty</a:t>
            </a:r>
            <a:r>
              <a:rPr lang="de-DE" dirty="0"/>
              <a:t> </a:t>
            </a:r>
            <a:r>
              <a:rPr lang="de-DE" dirty="0" err="1"/>
              <a:t>intervals</a:t>
            </a:r>
            <a:endParaRPr lang="de-DE" dirty="0"/>
          </a:p>
          <a:p>
            <a:pPr marL="0" indent="0">
              <a:buNone/>
            </a:pPr>
            <a:r>
              <a:rPr lang="de-DE" b="1" dirty="0" err="1"/>
              <a:t>Bayesian</a:t>
            </a:r>
            <a:r>
              <a:rPr lang="de-DE" b="1" dirty="0"/>
              <a:t> Enhancements:</a:t>
            </a:r>
            <a:endParaRPr lang="de-DE" dirty="0"/>
          </a:p>
          <a:p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</a:t>
            </a:r>
            <a:r>
              <a:rPr lang="de-DE" dirty="0" err="1"/>
              <a:t>intervals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out-</a:t>
            </a:r>
            <a:r>
              <a:rPr lang="de-DE" dirty="0" err="1"/>
              <a:t>of</a:t>
            </a:r>
            <a:r>
              <a:rPr lang="de-DE" dirty="0"/>
              <a:t>-sample R² via </a:t>
            </a:r>
            <a:r>
              <a:rPr lang="de-DE" dirty="0" err="1"/>
              <a:t>posterior</a:t>
            </a:r>
            <a:r>
              <a:rPr lang="de-DE" dirty="0"/>
              <a:t> </a:t>
            </a:r>
            <a:r>
              <a:rPr lang="de-DE" dirty="0" err="1"/>
              <a:t>predictive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endParaRPr lang="de-DE" dirty="0"/>
          </a:p>
          <a:p>
            <a:r>
              <a:rPr lang="de-DE" dirty="0"/>
              <a:t>Also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</a:t>
            </a:r>
            <a:r>
              <a:rPr lang="de-DE" dirty="0" err="1"/>
              <a:t>quantification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calibration</a:t>
            </a:r>
            <a:r>
              <a:rPr lang="de-DE" dirty="0"/>
              <a:t> </a:t>
            </a:r>
            <a:r>
              <a:rPr lang="de-DE" dirty="0" err="1"/>
              <a:t>intercept</a:t>
            </a:r>
            <a:r>
              <a:rPr lang="de-DE" dirty="0"/>
              <a:t> and </a:t>
            </a:r>
            <a:r>
              <a:rPr lang="de-DE" dirty="0" err="1"/>
              <a:t>slope</a:t>
            </a:r>
            <a:endParaRPr lang="de-DE" dirty="0"/>
          </a:p>
          <a:p>
            <a:pPr marL="0" indent="0">
              <a:buNone/>
            </a:pPr>
            <a:r>
              <a:rPr lang="de-DE" b="1" dirty="0"/>
              <a:t>Validation </a:t>
            </a:r>
            <a:r>
              <a:rPr lang="de-DE" b="1" dirty="0" err="1"/>
              <a:t>Perspective</a:t>
            </a:r>
            <a:r>
              <a:rPr lang="de-DE" b="1" dirty="0"/>
              <a:t>:</a:t>
            </a:r>
            <a:endParaRPr lang="de-DE" dirty="0"/>
          </a:p>
          <a:p>
            <a:r>
              <a:rPr lang="de-DE" dirty="0" err="1"/>
              <a:t>Concepts</a:t>
            </a:r>
            <a:r>
              <a:rPr lang="de-DE" dirty="0"/>
              <a:t> like </a:t>
            </a:r>
            <a:r>
              <a:rPr lang="de-DE" dirty="0" err="1"/>
              <a:t>optimism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and </a:t>
            </a:r>
            <a:r>
              <a:rPr lang="de-DE" dirty="0" err="1"/>
              <a:t>resampling</a:t>
            </a:r>
            <a:r>
              <a:rPr lang="de-DE" dirty="0"/>
              <a:t> </a:t>
            </a:r>
            <a:r>
              <a:rPr lang="de-DE" dirty="0" err="1"/>
              <a:t>align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b="1" dirty="0" err="1"/>
              <a:t>frequentist</a:t>
            </a:r>
            <a:r>
              <a:rPr lang="de-DE" b="1" dirty="0"/>
              <a:t> </a:t>
            </a:r>
            <a:r>
              <a:rPr lang="de-DE" b="1" dirty="0" err="1"/>
              <a:t>thinking</a:t>
            </a:r>
            <a:r>
              <a:rPr lang="de-DE" dirty="0"/>
              <a:t> (</a:t>
            </a:r>
            <a:r>
              <a:rPr lang="de-DE" dirty="0" err="1"/>
              <a:t>sampling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r>
              <a:rPr lang="de-DE" dirty="0"/>
              <a:t>)</a:t>
            </a:r>
          </a:p>
          <a:p>
            <a:r>
              <a:rPr lang="de-DE" dirty="0"/>
              <a:t>Traditional 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view</a:t>
            </a:r>
            <a:r>
              <a:rPr lang="de-DE" dirty="0"/>
              <a:t> </a:t>
            </a:r>
            <a:r>
              <a:rPr lang="de-DE" dirty="0" err="1"/>
              <a:t>treats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 and </a:t>
            </a:r>
            <a:r>
              <a:rPr lang="de-DE" dirty="0" err="1"/>
              <a:t>focuses</a:t>
            </a:r>
            <a:r>
              <a:rPr lang="de-DE" dirty="0"/>
              <a:t> on utilities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select</a:t>
            </a:r>
            <a:r>
              <a:rPr lang="de-DE" dirty="0"/>
              <a:t> variables. </a:t>
            </a:r>
            <a:r>
              <a:rPr lang="de-DE" b="1" dirty="0"/>
              <a:t>Modern </a:t>
            </a:r>
            <a:r>
              <a:rPr lang="de-DE" b="1" dirty="0" err="1"/>
              <a:t>Bayesian</a:t>
            </a:r>
            <a:r>
              <a:rPr lang="de-DE" b="1" dirty="0"/>
              <a:t> </a:t>
            </a:r>
            <a:r>
              <a:rPr lang="de-DE" b="1" dirty="0" err="1"/>
              <a:t>prediction</a:t>
            </a:r>
            <a:r>
              <a:rPr lang="de-DE" b="1" dirty="0"/>
              <a:t> </a:t>
            </a:r>
            <a:r>
              <a:rPr lang="de-DE" b="1" dirty="0" err="1"/>
              <a:t>culture</a:t>
            </a:r>
            <a:r>
              <a:rPr lang="de-DE" dirty="0"/>
              <a:t> </a:t>
            </a:r>
            <a:r>
              <a:rPr lang="de-DE" dirty="0" err="1"/>
              <a:t>embraces</a:t>
            </a:r>
            <a:r>
              <a:rPr lang="de-DE" dirty="0"/>
              <a:t> internal </a:t>
            </a:r>
            <a:r>
              <a:rPr lang="de-DE" dirty="0" err="1"/>
              <a:t>validation</a:t>
            </a:r>
            <a:r>
              <a:rPr lang="de-DE" dirty="0"/>
              <a:t> → 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like </a:t>
            </a:r>
            <a:r>
              <a:rPr lang="de-DE" b="1" dirty="0" err="1"/>
              <a:t>bootstrap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assess</a:t>
            </a:r>
            <a:r>
              <a:rPr lang="de-DE" dirty="0"/>
              <a:t> </a:t>
            </a:r>
            <a:r>
              <a:rPr lang="de-DE" dirty="0" err="1"/>
              <a:t>generalization</a:t>
            </a:r>
            <a:endParaRPr lang="de-DE" dirty="0"/>
          </a:p>
          <a:p>
            <a:endParaRPr lang="en-US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36710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Center for Medical Data Science – Institute of Clinical Biometrics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Georg Heinze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09D1-9D44-46E9-90D5-584F6311654E}" type="slidenum">
              <a:rPr lang="de-DE" smtClean="0"/>
              <a:t>24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Set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variables different (</a:t>
            </a:r>
            <a:r>
              <a:rPr lang="de-DE" dirty="0" err="1"/>
              <a:t>Biceps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 </a:t>
            </a:r>
            <a:r>
              <a:rPr lang="de-DE" dirty="0" err="1">
                <a:sym typeface="Wingdings" panose="05000000000000000000" pitchFamily="2" charset="2"/>
              </a:rPr>
              <a:t>Wrist</a:t>
            </a:r>
            <a:r>
              <a:rPr lang="de-DE" dirty="0">
                <a:sym typeface="Wingdings" panose="05000000000000000000" pitchFamily="2" charset="2"/>
              </a:rPr>
              <a:t>)</a:t>
            </a:r>
            <a:r>
              <a:rPr lang="de-DE" dirty="0"/>
              <a:t> </a:t>
            </a:r>
          </a:p>
          <a:p>
            <a:r>
              <a:rPr lang="de-DE" dirty="0" err="1"/>
              <a:t>Calibration</a:t>
            </a:r>
            <a:r>
              <a:rPr lang="de-DE" dirty="0"/>
              <a:t> </a:t>
            </a:r>
            <a:r>
              <a:rPr lang="de-DE" dirty="0" err="1"/>
              <a:t>intercept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slope</a:t>
            </a:r>
            <a:r>
              <a:rPr lang="de-DE" dirty="0"/>
              <a:t> at </a:t>
            </a:r>
            <a:r>
              <a:rPr lang="de-DE" dirty="0" err="1"/>
              <a:t>external</a:t>
            </a:r>
            <a:r>
              <a:rPr lang="de-DE" dirty="0"/>
              <a:t> </a:t>
            </a:r>
            <a:r>
              <a:rPr lang="de-DE" dirty="0" err="1"/>
              <a:t>validation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similar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overall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conclusion</a:t>
            </a:r>
            <a:endParaRPr lang="de-DE" dirty="0"/>
          </a:p>
          <a:p>
            <a:r>
              <a:rPr lang="de-DE" dirty="0"/>
              <a:t>Variable </a:t>
            </a:r>
            <a:r>
              <a:rPr lang="de-DE" dirty="0" err="1"/>
              <a:t>selection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said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unnoticed</a:t>
            </a:r>
            <a:br>
              <a:rPr lang="de-DE" dirty="0"/>
            </a:br>
            <a:r>
              <a:rPr lang="de-DE" dirty="0"/>
              <a:t>(</a:t>
            </a:r>
            <a:r>
              <a:rPr lang="de-DE" dirty="0" err="1"/>
              <a:t>see</a:t>
            </a:r>
            <a:r>
              <a:rPr lang="de-DE" dirty="0"/>
              <a:t> also Heinze et al, 2018)</a:t>
            </a:r>
          </a:p>
          <a:p>
            <a:r>
              <a:rPr lang="de-DE" dirty="0" err="1"/>
              <a:t>Compared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variation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predictors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 in </a:t>
            </a:r>
            <a:r>
              <a:rPr lang="de-DE" dirty="0" err="1"/>
              <a:t>advance</a:t>
            </a:r>
            <a:endParaRPr lang="de-DE" dirty="0"/>
          </a:p>
          <a:p>
            <a:pPr lvl="1"/>
            <a:r>
              <a:rPr lang="de-DE" dirty="0"/>
              <a:t>E.g.,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predictors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VIF&gt;80%, 1 </a:t>
            </a:r>
            <a:r>
              <a:rPr lang="de-DE" dirty="0" err="1"/>
              <a:t>with</a:t>
            </a:r>
            <a:r>
              <a:rPr lang="de-DE" dirty="0"/>
              <a:t> 50%,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&lt;25%</a:t>
            </a:r>
          </a:p>
          <a:p>
            <a:pPr lvl="1"/>
            <a:r>
              <a:rPr lang="de-DE" dirty="0"/>
              <a:t>Still, additional </a:t>
            </a:r>
            <a:r>
              <a:rPr lang="de-DE" dirty="0" err="1"/>
              <a:t>uncertainty</a:t>
            </a:r>
            <a:r>
              <a:rPr lang="de-DE" dirty="0"/>
              <a:t> in </a:t>
            </a:r>
            <a:r>
              <a:rPr lang="de-DE" dirty="0" err="1"/>
              <a:t>predictions</a:t>
            </a:r>
            <a:r>
              <a:rPr lang="de-DE" dirty="0"/>
              <a:t> (</a:t>
            </a:r>
            <a:r>
              <a:rPr lang="de-DE" dirty="0" err="1"/>
              <a:t>compared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assuming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was </a:t>
            </a:r>
            <a:r>
              <a:rPr lang="de-DE" dirty="0" err="1"/>
              <a:t>fixed</a:t>
            </a:r>
            <a:r>
              <a:rPr lang="de-DE" dirty="0"/>
              <a:t> in </a:t>
            </a:r>
            <a:r>
              <a:rPr lang="de-DE" dirty="0" err="1"/>
              <a:t>advance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Bootstrap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overestimate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variability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also Wallisch et al, 2021)</a:t>
            </a:r>
          </a:p>
          <a:p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‚</a:t>
            </a:r>
            <a:r>
              <a:rPr lang="de-DE" dirty="0" err="1"/>
              <a:t>selection</a:t>
            </a:r>
            <a:r>
              <a:rPr lang="de-DE" dirty="0"/>
              <a:t> </a:t>
            </a:r>
            <a:r>
              <a:rPr lang="de-DE" dirty="0" err="1"/>
              <a:t>probability</a:t>
            </a:r>
            <a:r>
              <a:rPr lang="de-DE" dirty="0"/>
              <a:t>‘ not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in </a:t>
            </a:r>
            <a:r>
              <a:rPr lang="de-DE" dirty="0" err="1"/>
              <a:t>frequentist</a:t>
            </a:r>
            <a:r>
              <a:rPr lang="de-DE" dirty="0"/>
              <a:t> </a:t>
            </a:r>
            <a:r>
              <a:rPr lang="de-DE" dirty="0" err="1"/>
              <a:t>statistics</a:t>
            </a:r>
            <a:endParaRPr lang="de-DE" dirty="0"/>
          </a:p>
          <a:p>
            <a:pPr lvl="1"/>
            <a:r>
              <a:rPr lang="de-DE" dirty="0" err="1"/>
              <a:t>Pragmatic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quantifying</a:t>
            </a:r>
            <a:r>
              <a:rPr lang="de-DE" dirty="0"/>
              <a:t> </a:t>
            </a:r>
            <a:r>
              <a:rPr lang="de-DE" dirty="0" err="1"/>
              <a:t>uncertainty</a:t>
            </a:r>
            <a:endParaRPr lang="de-DE" dirty="0"/>
          </a:p>
          <a:p>
            <a:pPr lvl="1"/>
            <a:r>
              <a:rPr lang="de-DE" dirty="0"/>
              <a:t>Multi-model </a:t>
            </a:r>
            <a:r>
              <a:rPr lang="de-DE" dirty="0" err="1"/>
              <a:t>inference</a:t>
            </a:r>
            <a:r>
              <a:rPr lang="de-DE" dirty="0"/>
              <a:t> not easy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frequentist</a:t>
            </a:r>
            <a:r>
              <a:rPr lang="de-DE" dirty="0"/>
              <a:t> </a:t>
            </a:r>
            <a:r>
              <a:rPr lang="de-DE" dirty="0" err="1"/>
              <a:t>viewpoint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28973951"/>
      </p:ext>
    </p:extLst>
  </p:cSld>
  <p:clrMapOvr>
    <a:masterClrMapping/>
  </p:clrMapOvr>
</p:sld>
</file>

<file path=ppt/theme/theme1.xml><?xml version="1.0" encoding="utf-8"?>
<a:theme xmlns:a="http://schemas.openxmlformats.org/drawingml/2006/main" name="MedUni Wien">
  <a:themeElements>
    <a:clrScheme name="MedUni Wien">
      <a:dk1>
        <a:sysClr val="windowText" lastClr="000000"/>
      </a:dk1>
      <a:lt1>
        <a:sysClr val="window" lastClr="FFFFFF"/>
      </a:lt1>
      <a:dk2>
        <a:srgbClr val="757070"/>
      </a:dk2>
      <a:lt2>
        <a:srgbClr val="FDD8C9"/>
      </a:lt2>
      <a:accent1>
        <a:srgbClr val="111D4E"/>
      </a:accent1>
      <a:accent2>
        <a:srgbClr val="5FB4E5"/>
      </a:accent2>
      <a:accent3>
        <a:srgbClr val="3CBFAE"/>
      </a:accent3>
      <a:accent4>
        <a:srgbClr val="F0A794"/>
      </a:accent4>
      <a:accent5>
        <a:srgbClr val="4472C4"/>
      </a:accent5>
      <a:accent6>
        <a:srgbClr val="70AD47"/>
      </a:accent6>
      <a:hlink>
        <a:srgbClr val="111D4E"/>
      </a:hlink>
      <a:folHlink>
        <a:srgbClr val="00297A"/>
      </a:folHlink>
    </a:clrScheme>
    <a:fontScheme name="MedUni Wien">
      <a:majorFont>
        <a:latin typeface="Georgia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Uni-en-16-9.potx" id="{C4577A60-5E15-48BD-AA46-78AF9477BC68}" vid="{5C915D66-5F94-418C-82FE-3BB67FFD1A2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MedUni Wien_EN_16-9</Template>
  <TotalTime>0</TotalTime>
  <Words>2840</Words>
  <Application>Microsoft Office PowerPoint</Application>
  <PresentationFormat>Breitbild</PresentationFormat>
  <Paragraphs>317</Paragraphs>
  <Slides>24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2" baseType="lpstr">
      <vt:lpstr>Arial</vt:lpstr>
      <vt:lpstr>Bahnschrift Light</vt:lpstr>
      <vt:lpstr>Calibri</vt:lpstr>
      <vt:lpstr>Cambria Math</vt:lpstr>
      <vt:lpstr>Georgia</vt:lpstr>
      <vt:lpstr>Lucida Sans</vt:lpstr>
      <vt:lpstr>Wingdings</vt:lpstr>
      <vt:lpstr>MedUni Wien</vt:lpstr>
      <vt:lpstr>The beauty of descriptive models – and bodyfat (the beast)</vt:lpstr>
      <vt:lpstr>Outline</vt:lpstr>
      <vt:lpstr>Purpose of models: To Explain or to Predict?</vt:lpstr>
      <vt:lpstr>PowerPoint-Präsentation</vt:lpstr>
      <vt:lpstr>PowerPoint-Präsentation</vt:lpstr>
      <vt:lpstr>Here are two typical tasks of descriptive modeling</vt:lpstr>
      <vt:lpstr>A new task: predicting body fat</vt:lpstr>
      <vt:lpstr>Predictor to choose from</vt:lpstr>
      <vt:lpstr>Estimands</vt:lpstr>
      <vt:lpstr>Proposed model and modeling approach</vt:lpstr>
      <vt:lpstr>Model description</vt:lpstr>
      <vt:lpstr>Data preparation</vt:lpstr>
      <vt:lpstr>Data preparation</vt:lpstr>
      <vt:lpstr>Statistical Analysis Plan</vt:lpstr>
      <vt:lpstr>Results</vt:lpstr>
      <vt:lpstr>Model diagnostics</vt:lpstr>
      <vt:lpstr>Residuals vs. excluded predictors</vt:lpstr>
      <vt:lpstr>Prediction instability plot</vt:lpstr>
      <vt:lpstr>Model validation</vt:lpstr>
      <vt:lpstr>What went wrong? Calibration plot to the rescue!</vt:lpstr>
      <vt:lpstr>Two-Stage Strategy in Prediction and feature selection (R-package projpred) </vt:lpstr>
      <vt:lpstr>Predictive Projection – Motivation for Robustness Analysis: Why this approach?  </vt:lpstr>
      <vt:lpstr>Robustness Analysis – Comparison with Original Study </vt:lpstr>
      <vt:lpstr>Summary of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with a blue background</dc:title>
  <dc:creator>Georg Heinze</dc:creator>
  <cp:lastModifiedBy>Mariana Nold</cp:lastModifiedBy>
  <cp:revision>92</cp:revision>
  <cp:lastPrinted>2016-07-07T12:58:37Z</cp:lastPrinted>
  <dcterms:created xsi:type="dcterms:W3CDTF">2023-01-03T08:42:16Z</dcterms:created>
  <dcterms:modified xsi:type="dcterms:W3CDTF">2025-09-09T08:43:53Z</dcterms:modified>
</cp:coreProperties>
</file>